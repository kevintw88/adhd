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結論" id="{31d9b041-6749-2cab-18e9-2cc1da6d5438}">
          <p14:sldIdLst>
            <p14:sldId id="256"/>
            <p14:sldId id="257"/>
          </p14:sldIdLst>
        </p14:section>
        <p14:section name="為什麼" id="{78eca1d5-10e2-a346-3443-e0ee3ab660ad}">
          <p14:sldIdLst>
            <p14:sldId id="258"/>
            <p14:sldId id="259"/>
          </p14:sldIdLst>
        </p14:section>
        <p14:section name="做法" id="{0f6db379-8775-cc35-111e-f2d1459c71d0}">
          <p14:sldIdLst>
            <p14:sldId id="260"/>
            <p14:sldId id="261"/>
          </p14:sldIdLst>
        </p14:section>
        <p14:section name="效益" id="{0b2b79aa-8f81-8fd0-7ed1-577869d3dbc9}">
          <p14:sldIdLst>
            <p14:sldId id="262"/>
            <p14:sldId id="263"/>
          </p14:sldIdLst>
        </p14:section>
        <p14:section name="治理" id="{9018d358-15d4-fcfe-7421-404809572d47}">
          <p14:sldIdLst>
            <p14:sldId id="264"/>
            <p14:sldId id="265"/>
            <p14:sldId id="266"/>
            <p14:sldId id="267"/>
          </p14:sldIdLst>
        </p14:section>
        <p14:section name="決策" id="{e3bdadea-24bf-a0bd-a295-56bfb6e12bbd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可到達最高權限的帳號數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修補前</c:v>
                </c:pt>
              </c:strCache>
            </c:strRef>
          </c:tx>
          <c:spPr>
            <a:solidFill>
              <a:srgbClr val="D992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總公司</c:v>
                  </c:pt>
                  <c:pt idx="1">
                    <c:v>子公司 A</c:v>
                  </c:pt>
                  <c:pt idx="2">
                    <c:v>子公司 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234</c:v>
                </c:pt>
                <c:pt idx="1">
                  <c:v>77</c:v>
                </c:pt>
                <c:pt idx="2">
                  <c:v>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第一步修補後</c:v>
                </c:pt>
              </c:strCache>
            </c:strRef>
          </c:tx>
          <c:spPr>
            <a:solidFill>
              <a:srgbClr val="0E8F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總公司</c:v>
                  </c:pt>
                  <c:pt idx="1">
                    <c:v>子公司 A</c:v>
                  </c:pt>
                  <c:pt idx="2">
                    <c:v>子公司 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33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</c:scaling>
        <c:delete val="0"/>
        <c:axPos val="l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47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三句話：AD 是首要目標、我們依各法人現況分級處理、少數關鍵修補就能大幅降低風險。最後請管理層支持三件事。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數據為 Microsoft 公開資料。重點不是 AD 有沒有漏洞，而是攻擊者幾乎一定會走到 AD；拿下 AD 後，可以一次對全公司下手。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 Profile 由平台自動判定，不需要人工分類。子公司若受法規限制，可改為就地分析、只回傳彙總結果。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模擬資料刻意埋入常見弱點：憑證範本設定不當、管理員在一般主機登入、群組權限過大。真實環境的數字可能更好也可能更差，重點是平台能找出「先修哪一個」。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在這裡的角色是放大資安團隊：把需要專家經驗的盤點、排序、解讀變成每季可重跑的流程。我們刻意不在現在給出工時節省百分比，會在試行時量測。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平台本身握有完整權限關係圖，等同攻擊者的藍圖，因此平台以最高等級（Tier 0）隔離與管理。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每個閘門未達標就不進下一階段，AI 的權限也隨階段逐步放寬：Phase 0–1 只讀，Phase 2 可開工單，Phase 3 才在人工核准後執行變更。各階段工期待預算與人力核定後排定。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三項請求都不需要新增採購：模型與 GPU 為既有資源，平台為內部自建。需要的是資料分級的決策與跨單位配合。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326880" y="548640"/>
            <a:ext cx="1005840" cy="365760"/>
          </a:xfrm>
          <a:prstGeom prst="line">
            <a:avLst/>
          </a:prstGeom>
          <a:noFill/>
          <a:ln w="15875">
            <a:solidFill>
              <a:srgbClr val="0E8F7E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548640"/>
            <a:ext cx="822960" cy="640080"/>
          </a:xfrm>
          <a:prstGeom prst="line">
            <a:avLst/>
          </a:prstGeom>
          <a:noFill/>
          <a:ln w="15875">
            <a:solidFill>
              <a:srgbClr val="0E8F7E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914400"/>
            <a:ext cx="731520" cy="640080"/>
          </a:xfrm>
          <a:prstGeom prst="line">
            <a:avLst/>
          </a:prstGeom>
          <a:noFill/>
          <a:ln w="15875">
            <a:solidFill>
              <a:srgbClr val="0E8F7E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0058400" y="1188720"/>
            <a:ext cx="1097280" cy="365760"/>
          </a:xfrm>
          <a:prstGeom prst="line">
            <a:avLst/>
          </a:prstGeom>
          <a:noFill/>
          <a:ln w="15875">
            <a:solidFill>
              <a:srgbClr val="0E8F7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1188720"/>
            <a:ext cx="182880" cy="1005840"/>
          </a:xfrm>
          <a:prstGeom prst="line">
            <a:avLst/>
          </a:prstGeom>
          <a:noFill/>
          <a:ln w="15875">
            <a:solidFill>
              <a:srgbClr val="0E8F7E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509760" y="1554480"/>
            <a:ext cx="548640" cy="548640"/>
          </a:xfrm>
          <a:prstGeom prst="line">
            <a:avLst/>
          </a:prstGeom>
          <a:noFill/>
          <a:ln w="15875">
            <a:solidFill>
              <a:srgbClr val="0E8F7E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44584" y="832104"/>
            <a:ext cx="164592" cy="164592"/>
          </a:xfrm>
          <a:prstGeom prst="rect">
            <a:avLst>
              <a:gd name="adj" fmla="val 50000"/>
            </a:avLst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50424" y="466344"/>
            <a:ext cx="164592" cy="164592"/>
          </a:xfrm>
          <a:prstGeom prst="rect">
            <a:avLst>
              <a:gd name="adj" fmla="val 50000"/>
            </a:avLst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73384" y="1106424"/>
            <a:ext cx="164592" cy="164592"/>
          </a:xfrm>
          <a:prstGeom prst="rect">
            <a:avLst>
              <a:gd name="adj" fmla="val 50000"/>
            </a:avLst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6104" y="1472184"/>
            <a:ext cx="164592" cy="164592"/>
          </a:xfrm>
          <a:prstGeom prst="rect">
            <a:avLst>
              <a:gd name="adj" fmla="val 50000"/>
            </a:avLst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56264" y="2112264"/>
            <a:ext cx="164592" cy="164592"/>
          </a:xfrm>
          <a:prstGeom prst="rect">
            <a:avLst>
              <a:gd name="adj" fmla="val 50000"/>
            </a:avLst>
          </a:prstGeom>
          <a:solidFill>
            <a:srgbClr val="D9922E"/>
          </a:solidFill>
          <a:ln w="12700">
            <a:solidFill>
              <a:srgbClr val="D992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27464" y="2020824"/>
            <a:ext cx="164592" cy="164592"/>
          </a:xfrm>
          <a:prstGeom prst="rect">
            <a:avLst>
              <a:gd name="adj" fmla="val 50000"/>
            </a:avLst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14" name="Text 12"/>
          <p:cNvSpPr/>
          <p:nvPr>
            <p:ph idx="112" type="title" hasCustomPrompt="1"/>
          </p:nvPr>
        </p:nvSpPr>
        <p:spPr>
          <a:xfrm>
            <a:off x="731520" y="214884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15" name="Text 12"/>
          <p:cNvSpPr/>
          <p:nvPr>
            <p:ph idx="113" type="body" hasCustomPrompt="1"/>
          </p:nvPr>
        </p:nvSpPr>
        <p:spPr>
          <a:xfrm>
            <a:off x="731520" y="3703320"/>
            <a:ext cx="10241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3D0"/>
                </a:solidFill>
              </a:rPr>
              <a:t>AD 與 Entra ID 混合環境 AI 資安防護｜管理簡報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F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AFC3D0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AD 與 Entra ID 混合環境 AI 資安防護｜管理簡報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icrosoft.com/en-us/security/blog/2025/04/09/how-cyberattackers-exploit-domain-controllers-using-ransomware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2"/>
          <p:cNvSpPr/>
          <p:nvPr>
            <p:ph idx="112" type="title" hasCustomPrompt="1"/>
          </p:nvPr>
        </p:nvSpPr>
        <p:spPr>
          <a:xfrm>
            <a:off x="731520" y="214884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用 AI 守住公司的身分核心</a:t>
            </a:r>
            <a:endParaRPr lang="en-US" sz="4000" dirty="0"/>
          </a:p>
        </p:txBody>
      </p:sp>
      <p:sp>
        <p:nvSpPr>
          <p:cNvPr id="3" name="Text 12"/>
          <p:cNvSpPr/>
          <p:nvPr>
            <p:ph idx="113" type="body" hasCustomPrompt="1"/>
          </p:nvPr>
        </p:nvSpPr>
        <p:spPr>
          <a:xfrm>
            <a:off x="731520" y="37033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AD 與 Entra ID 混合環境資安防護專案｜總公司與子公司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結論：先看清楚，再修最關鍵的少數幾處</a:t>
            </a:r>
            <a:endParaRPr lang="en-US" sz="3000" dirty="0"/>
          </a:p>
        </p:txBody>
      </p:sp>
      <p:sp>
        <p:nvSpPr>
          <p:cNvPr id="3" name="pt-0-circle"/>
          <p:cNvSpPr/>
          <p:nvPr/>
        </p:nvSpPr>
        <p:spPr>
          <a:xfrm>
            <a:off x="548640" y="1371600"/>
            <a:ext cx="777240" cy="777240"/>
          </a:xfrm>
          <a:prstGeom prst="ellipse">
            <a:avLst/>
          </a:prstGeom>
          <a:solidFill>
            <a:srgbClr val="D9922E"/>
          </a:solidFill>
          <a:ln w="12700">
            <a:solidFill>
              <a:srgbClr val="D9922E"/>
            </a:solidFill>
            <a:prstDash val="solid"/>
          </a:ln>
        </p:spPr>
      </p:sp>
      <p:pic>
        <p:nvPicPr>
          <p:cNvPr id="4" name="pt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633" y="1542593"/>
            <a:ext cx="435254" cy="4352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3898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AD 是攻擊者的首要目標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920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取得網域控制權，就能控制全公司的帳號與系統</a:t>
            </a:r>
            <a:endParaRPr lang="en-US" sz="1600" dirty="0"/>
          </a:p>
        </p:txBody>
      </p:sp>
      <p:sp>
        <p:nvSpPr>
          <p:cNvPr id="7" name="pt-1-circle"/>
          <p:cNvSpPr/>
          <p:nvPr/>
        </p:nvSpPr>
        <p:spPr>
          <a:xfrm>
            <a:off x="548640" y="2926080"/>
            <a:ext cx="777240" cy="77724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8" name="pt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3" y="3097073"/>
            <a:ext cx="435254" cy="43525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9443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先偵測、後運行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34747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平台自動盤點每個法人，依現況啟用合適的防護，不一套方案硬套</a:t>
            </a:r>
            <a:endParaRPr lang="en-US" sz="1600" dirty="0"/>
          </a:p>
        </p:txBody>
      </p:sp>
      <p:sp>
        <p:nvSpPr>
          <p:cNvPr id="11" name="pt-2-circle"/>
          <p:cNvSpPr/>
          <p:nvPr/>
        </p:nvSpPr>
        <p:spPr>
          <a:xfrm>
            <a:off x="548640" y="4480560"/>
            <a:ext cx="777240" cy="77724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12" name="pt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3" y="4651553"/>
            <a:ext cx="435254" cy="4352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44988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少數修補，大幅降風險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5029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模擬驗證中，第一步修補即可切斷 57%–100% 的攻擊路徑</a:t>
            </a:r>
            <a:endParaRPr lang="en-US" sz="1600" dirty="0"/>
          </a:p>
        </p:txBody>
      </p:sp>
      <p:sp>
        <p:nvSpPr>
          <p:cNvPr id="15" name="ask"/>
          <p:cNvSpPr/>
          <p:nvPr/>
        </p:nvSpPr>
        <p:spPr>
          <a:xfrm>
            <a:off x="7498080" y="1371600"/>
            <a:ext cx="4142232" cy="4754880"/>
          </a:xfrm>
          <a:prstGeom prst="roundRect">
            <a:avLst>
              <a:gd name="adj" fmla="val 1766"/>
            </a:avLst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81812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需要的支持</a:t>
            </a:r>
            <a:endParaRPr lang="en-US" sz="2200" dirty="0"/>
          </a:p>
        </p:txBody>
      </p:sp>
      <p:sp>
        <p:nvSpPr>
          <p:cNvPr id="17" name="num-1"/>
          <p:cNvSpPr/>
          <p:nvPr/>
        </p:nvSpPr>
        <p:spPr>
          <a:xfrm>
            <a:off x="7818120" y="2423160"/>
            <a:ext cx="502920" cy="502920"/>
          </a:xfrm>
          <a:prstGeom prst="ellipse">
            <a:avLst/>
          </a:prstGeom>
          <a:solidFill>
            <a:srgbClr val="9FD8CF"/>
          </a:solidFill>
          <a:ln w="12700">
            <a:solidFill>
              <a:srgbClr val="9FD8CF"/>
            </a:solidFill>
            <a:prstDash val="solid"/>
          </a:ln>
        </p:spPr>
      </p:sp>
      <p:sp>
        <p:nvSpPr>
          <p:cNvPr id="18" name="num-1-text"/>
          <p:cNvSpPr txBox="1"/>
          <p:nvPr/>
        </p:nvSpPr>
        <p:spPr>
          <a:xfrm>
            <a:off x="78181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3A"/>
                </a:solidFill>
              </a:rPr>
              <a:t>1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503920" y="2423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核定 AD 資料分級</a:t>
            </a:r>
            <a:endParaRPr lang="en-US" sz="1700" dirty="0"/>
          </a:p>
        </p:txBody>
      </p:sp>
      <p:sp>
        <p:nvSpPr>
          <p:cNvPr id="20" name="num-2"/>
          <p:cNvSpPr/>
          <p:nvPr/>
        </p:nvSpPr>
        <p:spPr>
          <a:xfrm>
            <a:off x="7818120" y="3383280"/>
            <a:ext cx="502920" cy="502920"/>
          </a:xfrm>
          <a:prstGeom prst="ellipse">
            <a:avLst/>
          </a:prstGeom>
          <a:solidFill>
            <a:srgbClr val="9FD8CF"/>
          </a:solidFill>
          <a:ln w="12700">
            <a:solidFill>
              <a:srgbClr val="9FD8CF"/>
            </a:solidFill>
            <a:prstDash val="solid"/>
          </a:ln>
        </p:spPr>
      </p:sp>
      <p:sp>
        <p:nvSpPr>
          <p:cNvPr id="21" name="num-2-text"/>
          <p:cNvSpPr txBox="1"/>
          <p:nvPr/>
        </p:nvSpPr>
        <p:spPr>
          <a:xfrm>
            <a:off x="78181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3A"/>
                </a:solidFill>
              </a:rPr>
              <a:t>2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503920" y="3383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授權子公司導入</a:t>
            </a:r>
            <a:endParaRPr lang="en-US" sz="1700" dirty="0"/>
          </a:p>
        </p:txBody>
      </p:sp>
      <p:sp>
        <p:nvSpPr>
          <p:cNvPr id="23" name="num-3"/>
          <p:cNvSpPr/>
          <p:nvPr/>
        </p:nvSpPr>
        <p:spPr>
          <a:xfrm>
            <a:off x="7818120" y="4343400"/>
            <a:ext cx="502920" cy="502920"/>
          </a:xfrm>
          <a:prstGeom prst="ellipse">
            <a:avLst/>
          </a:prstGeom>
          <a:solidFill>
            <a:srgbClr val="9FD8CF"/>
          </a:solidFill>
          <a:ln w="12700">
            <a:solidFill>
              <a:srgbClr val="9FD8CF"/>
            </a:solidFill>
            <a:prstDash val="solid"/>
          </a:ln>
        </p:spPr>
      </p:sp>
      <p:sp>
        <p:nvSpPr>
          <p:cNvPr id="24" name="num-3-text"/>
          <p:cNvSpPr txBox="1"/>
          <p:nvPr/>
        </p:nvSpPr>
        <p:spPr>
          <a:xfrm>
            <a:off x="781812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3A"/>
                </a:solidFill>
              </a:rPr>
              <a:t>3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8503920" y="4343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以總公司為第一個試行點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781812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FC3D0"/>
                </a:solidFill>
              </a:rPr>
              <a:t>細節見最後一頁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AD 被攻破，等於全公司被攻破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H="1" flipV="1">
            <a:off x="2178101" y="2596896"/>
            <a:ext cx="1250899" cy="1152144"/>
          </a:xfrm>
          <a:prstGeom prst="line">
            <a:avLst/>
          </a:prstGeom>
          <a:noFill/>
          <a:ln w="19050">
            <a:solidFill>
              <a:srgbClr val="B8C1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3429000" y="2596896"/>
            <a:ext cx="1250899" cy="1152144"/>
          </a:xfrm>
          <a:prstGeom prst="line">
            <a:avLst/>
          </a:prstGeom>
          <a:noFill/>
          <a:ln w="19050">
            <a:solidFill>
              <a:srgbClr val="B8C1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3749040"/>
            <a:ext cx="1514246" cy="91"/>
          </a:xfrm>
          <a:prstGeom prst="line">
            <a:avLst/>
          </a:prstGeom>
          <a:noFill/>
          <a:ln w="19050">
            <a:solidFill>
              <a:srgbClr val="B8C1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3749040"/>
            <a:ext cx="1250899" cy="1152144"/>
          </a:xfrm>
          <a:prstGeom prst="line">
            <a:avLst/>
          </a:prstGeom>
          <a:noFill/>
          <a:ln w="19050">
            <a:solidFill>
              <a:srgbClr val="B8C1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2178101" y="3749040"/>
            <a:ext cx="1250899" cy="1152144"/>
          </a:xfrm>
          <a:prstGeom prst="line">
            <a:avLst/>
          </a:prstGeom>
          <a:noFill/>
          <a:ln w="19050">
            <a:solidFill>
              <a:srgbClr val="B8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1914754" y="3749040"/>
            <a:ext cx="1514246" cy="91"/>
          </a:xfrm>
          <a:prstGeom prst="line">
            <a:avLst/>
          </a:prstGeom>
          <a:noFill/>
          <a:ln w="19050">
            <a:solidFill>
              <a:srgbClr val="B8C1CC"/>
            </a:solidFill>
            <a:prstDash val="solid"/>
          </a:ln>
        </p:spPr>
      </p:sp>
      <p:sp>
        <p:nvSpPr>
          <p:cNvPr id="9" name="sp-郵件"/>
          <p:cNvSpPr/>
          <p:nvPr/>
        </p:nvSpPr>
        <p:spPr>
          <a:xfrm>
            <a:off x="960120" y="18745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10" name="sp-郵件-text"/>
          <p:cNvSpPr txBox="1"/>
          <p:nvPr/>
        </p:nvSpPr>
        <p:spPr>
          <a:xfrm>
            <a:off x="960120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郵件</a:t>
            </a:r>
            <a:endParaRPr lang="en-US" sz="1300" dirty="0"/>
          </a:p>
        </p:txBody>
      </p:sp>
      <p:sp>
        <p:nvSpPr>
          <p:cNvPr id="11" name="sp-檔案伺服器"/>
          <p:cNvSpPr/>
          <p:nvPr/>
        </p:nvSpPr>
        <p:spPr>
          <a:xfrm>
            <a:off x="4434840" y="18745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12" name="sp-檔案伺服器-text"/>
          <p:cNvSpPr txBox="1"/>
          <p:nvPr/>
        </p:nvSpPr>
        <p:spPr>
          <a:xfrm>
            <a:off x="4434840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檔案伺服器</a:t>
            </a:r>
            <a:endParaRPr lang="en-US" sz="1300" dirty="0"/>
          </a:p>
        </p:txBody>
      </p:sp>
      <p:sp>
        <p:nvSpPr>
          <p:cNvPr id="13" name="sp-ERP"/>
          <p:cNvSpPr/>
          <p:nvPr/>
        </p:nvSpPr>
        <p:spPr>
          <a:xfrm>
            <a:off x="4800600" y="34747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14" name="sp-ERP-text"/>
          <p:cNvSpPr txBox="1"/>
          <p:nvPr/>
        </p:nvSpPr>
        <p:spPr>
          <a:xfrm>
            <a:off x="4800600" y="3474720"/>
            <a:ext cx="1463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ERP</a:t>
            </a:r>
            <a:endParaRPr lang="en-US" sz="1300" dirty="0"/>
          </a:p>
        </p:txBody>
      </p:sp>
      <p:sp>
        <p:nvSpPr>
          <p:cNvPr id="15" name="sp-研發與 EDA 環境"/>
          <p:cNvSpPr/>
          <p:nvPr/>
        </p:nvSpPr>
        <p:spPr>
          <a:xfrm>
            <a:off x="4434840" y="50749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16" name="sp-研發與 EDA 環境-text"/>
          <p:cNvSpPr txBox="1"/>
          <p:nvPr/>
        </p:nvSpPr>
        <p:spPr>
          <a:xfrm>
            <a:off x="4434840" y="5074920"/>
            <a:ext cx="1463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研發與 EDA 環境</a:t>
            </a:r>
            <a:endParaRPr lang="en-US" sz="1300" dirty="0"/>
          </a:p>
        </p:txBody>
      </p:sp>
      <p:sp>
        <p:nvSpPr>
          <p:cNvPr id="17" name="sp-VPN 遠端"/>
          <p:cNvSpPr/>
          <p:nvPr/>
        </p:nvSpPr>
        <p:spPr>
          <a:xfrm>
            <a:off x="960120" y="50749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18" name="sp-VPN 遠端-text"/>
          <p:cNvSpPr txBox="1"/>
          <p:nvPr/>
        </p:nvSpPr>
        <p:spPr>
          <a:xfrm>
            <a:off x="960120" y="5074920"/>
            <a:ext cx="1463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VPN 遠端</a:t>
            </a:r>
            <a:endParaRPr lang="en-US" sz="1300" dirty="0"/>
          </a:p>
        </p:txBody>
      </p:sp>
      <p:sp>
        <p:nvSpPr>
          <p:cNvPr id="19" name="sp-雲端 M365"/>
          <p:cNvSpPr/>
          <p:nvPr/>
        </p:nvSpPr>
        <p:spPr>
          <a:xfrm>
            <a:off x="594360" y="34747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20" name="sp-雲端 M365-text"/>
          <p:cNvSpPr txBox="1"/>
          <p:nvPr/>
        </p:nvSpPr>
        <p:spPr>
          <a:xfrm>
            <a:off x="594360" y="3474720"/>
            <a:ext cx="1463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雲端 M365</a:t>
            </a:r>
            <a:endParaRPr lang="en-US" sz="1300" dirty="0"/>
          </a:p>
        </p:txBody>
      </p:sp>
      <p:sp>
        <p:nvSpPr>
          <p:cNvPr id="21" name="hub"/>
          <p:cNvSpPr/>
          <p:nvPr/>
        </p:nvSpPr>
        <p:spPr>
          <a:xfrm>
            <a:off x="2560320" y="2880360"/>
            <a:ext cx="1737360" cy="173736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60320" y="28803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Entra ID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7607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所有系統的登入與權限都由這裡發出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13716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D9922E"/>
                </a:solidFill>
              </a:rPr>
              <a:t>78%+</a:t>
            </a:r>
            <a:endParaRPr lang="en-US" sz="66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423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</a:rPr>
              <a:t>人為操作的網路攻擊中，攻擊者成功入侵網域控制站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291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C2410C"/>
                </a:solidFill>
              </a:rPr>
              <a:t>35%+</a:t>
            </a:r>
            <a:endParaRPr lang="en-US" sz="66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3434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</a:rPr>
              <a:t>的案例中，網域控制站是大規模散布勒索軟體的主要裝置</a:t>
            </a:r>
            <a:endParaRPr lang="en-US" sz="1700" dirty="0"/>
          </a:p>
        </p:txBody>
      </p:sp>
      <p:sp>
        <p:nvSpPr>
          <p:cNvPr id="28" name="Text 26">
            <a:hlinkClick r:id="rId1" tooltip=""/>
          </p:cNvPr>
          <p:cNvSpPr txBox="1"/>
          <p:nvPr/>
        </p:nvSpPr>
        <p:spPr>
          <a:xfrm>
            <a:off x="6949440" y="54864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5B647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資料來源：Microsoft Security Blog〈How cyberattackers exploit domain controllers using ransomware〉，2025-04-09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我們的挑戰：成熟度不一、交界面多、人力有限</a:t>
            </a:r>
            <a:endParaRPr lang="en-US" sz="3000" dirty="0"/>
          </a:p>
        </p:txBody>
      </p:sp>
      <p:sp>
        <p:nvSpPr>
          <p:cNvPr id="3" name="ch-0"/>
          <p:cNvSpPr/>
          <p:nvPr/>
        </p:nvSpPr>
        <p:spPr>
          <a:xfrm>
            <a:off x="548640" y="137160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ch-0-circle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rgbClr val="D9922E"/>
          </a:solidFill>
          <a:ln w="12700">
            <a:solidFill>
              <a:srgbClr val="D9922E"/>
            </a:solidFill>
            <a:prstDash val="solid"/>
          </a:ln>
        </p:spPr>
      </p:sp>
      <p:pic>
        <p:nvPicPr>
          <p:cNvPr id="5" name="ch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187269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總公司與子公司差異大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918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有的法人已有 MDI 與 SIEM，有的連 DC 稽核日誌都沒開。同一套方案無法一體適用。</a:t>
            </a:r>
            <a:endParaRPr lang="en-US" sz="1600" dirty="0"/>
          </a:p>
        </p:txBody>
      </p:sp>
      <p:sp>
        <p:nvSpPr>
          <p:cNvPr id="8" name="ch-1"/>
          <p:cNvSpPr/>
          <p:nvPr/>
        </p:nvSpPr>
        <p:spPr>
          <a:xfrm>
            <a:off x="4297680" y="137160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ch-1-circle"/>
          <p:cNvSpPr/>
          <p:nvPr/>
        </p:nvSpPr>
        <p:spPr>
          <a:xfrm>
            <a:off x="4617720" y="1691640"/>
            <a:ext cx="822960" cy="822960"/>
          </a:xfrm>
          <a:prstGeom prst="ellipse">
            <a:avLst/>
          </a:prstGeom>
          <a:solidFill>
            <a:srgbClr val="D9922E"/>
          </a:solidFill>
          <a:ln w="12700">
            <a:solidFill>
              <a:srgbClr val="D9922E"/>
            </a:solidFill>
            <a:prstDash val="solid"/>
          </a:ln>
        </p:spPr>
      </p:sp>
      <p:pic>
        <p:nvPicPr>
          <p:cNvPr id="10" name="ch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771" y="187269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混合環境的交界面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2918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Entra Connect、AD FS 等同步主機一旦失守，地端與雲端同時淪陷，卻常被當成一般伺服器管理。</a:t>
            </a:r>
            <a:endParaRPr lang="en-US" sz="1600" dirty="0"/>
          </a:p>
        </p:txBody>
      </p:sp>
      <p:sp>
        <p:nvSpPr>
          <p:cNvPr id="13" name="ch-2"/>
          <p:cNvSpPr/>
          <p:nvPr/>
        </p:nvSpPr>
        <p:spPr>
          <a:xfrm>
            <a:off x="8046720" y="137160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ch-2-circle"/>
          <p:cNvSpPr/>
          <p:nvPr/>
        </p:nvSpPr>
        <p:spPr>
          <a:xfrm>
            <a:off x="8366760" y="1691640"/>
            <a:ext cx="822960" cy="822960"/>
          </a:xfrm>
          <a:prstGeom prst="ellipse">
            <a:avLst/>
          </a:prstGeom>
          <a:solidFill>
            <a:srgbClr val="D9922E"/>
          </a:solidFill>
          <a:ln w="12700">
            <a:solidFill>
              <a:srgbClr val="D9922E"/>
            </a:solidFill>
            <a:prstDash val="solid"/>
          </a:ln>
        </p:spPr>
      </p:sp>
      <p:pic>
        <p:nvPicPr>
          <p:cNvPr id="15" name="ch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811" y="1872691"/>
            <a:ext cx="460858" cy="46085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人工盤點跟不上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2918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帳號、群組、權限關係數以萬計，靠人工逐項檢查只能一年一次，而且難以判斷先修哪裡。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8F7E"/>
                </a:solidFill>
              </a:rPr>
              <a:t>需要的是：能依每個法人現況自動調整、並告訴我們「先修哪一個」的方法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做法：先偵測、後運行</a:t>
            </a:r>
            <a:endParaRPr lang="en-US" sz="3000" dirty="0"/>
          </a:p>
        </p:txBody>
      </p:sp>
      <p:sp>
        <p:nvSpPr>
          <p:cNvPr id="3" name="st-0-circle"/>
          <p:cNvSpPr/>
          <p:nvPr/>
        </p:nvSpPr>
        <p:spPr>
          <a:xfrm>
            <a:off x="548640" y="1371600"/>
            <a:ext cx="777240" cy="77724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4" name="st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633" y="1542593"/>
            <a:ext cx="435254" cy="43525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63040" y="1760220"/>
            <a:ext cx="2743200" cy="91"/>
          </a:xfrm>
          <a:prstGeom prst="line">
            <a:avLst/>
          </a:prstGeom>
          <a:noFill/>
          <a:ln w="19050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54864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自動盤點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34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讀取 AD、Entra 與現有工具，產出每個法人的環境指紋</a:t>
            </a:r>
            <a:endParaRPr lang="en-US" sz="1500" dirty="0"/>
          </a:p>
        </p:txBody>
      </p:sp>
      <p:sp>
        <p:nvSpPr>
          <p:cNvPr id="8" name="st-1-circle"/>
          <p:cNvSpPr/>
          <p:nvPr/>
        </p:nvSpPr>
        <p:spPr>
          <a:xfrm>
            <a:off x="4297680" y="1371600"/>
            <a:ext cx="777240" cy="77724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9" name="st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673" y="1542593"/>
            <a:ext cx="435254" cy="43525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212080" y="1760220"/>
            <a:ext cx="2743200" cy="91"/>
          </a:xfrm>
          <a:prstGeom prst="line">
            <a:avLst/>
          </a:prstGeom>
          <a:noFill/>
          <a:ln w="19050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429768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規則判定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297680" y="2834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依環境決定啟用哪些防護，並列出缺口與補強順序</a:t>
            </a:r>
            <a:endParaRPr lang="en-US" sz="1500" dirty="0"/>
          </a:p>
        </p:txBody>
      </p:sp>
      <p:sp>
        <p:nvSpPr>
          <p:cNvPr id="13" name="st-2-circle"/>
          <p:cNvSpPr/>
          <p:nvPr/>
        </p:nvSpPr>
        <p:spPr>
          <a:xfrm>
            <a:off x="8046720" y="1371600"/>
            <a:ext cx="777240" cy="77724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14" name="st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713" y="1542593"/>
            <a:ext cx="435254" cy="43525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0467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分級運行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8046720" y="2834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只啟用符合現況的模組，環境改善後自動升級</a:t>
            </a:r>
            <a:endParaRPr lang="en-US" sz="1500" dirty="0"/>
          </a:p>
        </p:txBody>
      </p:sp>
      <p:sp>
        <p:nvSpPr>
          <p:cNvPr id="17" name="pf-0"/>
          <p:cNvSpPr/>
          <p:nvPr/>
        </p:nvSpPr>
        <p:spPr>
          <a:xfrm>
            <a:off x="54864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3F3F0"/>
          </a:solidFill>
          <a:ln w="12700">
            <a:solidFill>
              <a:srgbClr val="E3F3F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2296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8F7E"/>
                </a:solidFill>
              </a:rPr>
              <a:t>A 完整型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已有 MDI、SIEM 與完整日誌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120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預防評估 + 攻擊路徑 + 威脅偵測</a:t>
            </a:r>
            <a:endParaRPr lang="en-US" sz="1500" dirty="0"/>
          </a:p>
        </p:txBody>
      </p:sp>
      <p:sp>
        <p:nvSpPr>
          <p:cNvPr id="21" name="pf-1"/>
          <p:cNvSpPr/>
          <p:nvPr/>
        </p:nvSpPr>
        <p:spPr>
          <a:xfrm>
            <a:off x="429768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57200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922E"/>
                </a:solidFill>
              </a:rPr>
              <a:t>B 部分型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混合環境，工具或日誌不足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0" y="5120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預防評估 + 攻擊路徑，先補日誌</a:t>
            </a:r>
            <a:endParaRPr lang="en-US" sz="1500" dirty="0"/>
          </a:p>
        </p:txBody>
      </p:sp>
      <p:sp>
        <p:nvSpPr>
          <p:cNvPr id="25" name="pf-2"/>
          <p:cNvSpPr/>
          <p:nvPr/>
        </p:nvSpPr>
        <p:spPr>
          <a:xfrm>
            <a:off x="804672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BE7DE"/>
          </a:solidFill>
          <a:ln w="12700">
            <a:solidFill>
              <a:srgbClr val="FBE7DE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32104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</a:rPr>
              <a:t>C 地端型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832104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只有地端 AD，遙測未知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321040" y="5120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預防評估 + 攻擊路徑，先建基礎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模擬驗證：路徑普遍存在，但一處修補就能切斷大多數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D9922E"/>
                </a:solidFill>
              </a:rPr>
              <a:t>100%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三個模擬法人的一般帳號，全都存在通往最高權限的路徑（348 / 348）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37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E8F7E"/>
                </a:solidFill>
              </a:rPr>
              <a:t>96.6%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總公司只要移除一個憑證範本的註冊權，就切斷 234 個帳號中的 226 個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846320" y="128016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note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以上為模擬資料（依常見弱點設計的三個虛擬法人），實際數字將於總公司試行後回報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 帶來的改變：把專家判斷變成可重複的流程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505663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工作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過去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導入後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</a:rPr>
                        <a:t>環境盤點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人工逐台查詢，約一年一次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8F7E"/>
                          </a:solidFill>
                        </a:rPr>
                        <a:t>自動產出環境指紋，每季重跑並比對差異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</a:rPr>
                        <a:t>風險排序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依通用嚴重度，難判斷先修哪個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8F7E"/>
                          </a:solidFill>
                        </a:rPr>
                        <a:t>依實際攻擊路徑排序，算出每步修補效果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</a:rPr>
                        <a:t>子公司比較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各自為政，報告格式不一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8F7E"/>
                          </a:solidFill>
                        </a:rPr>
                        <a:t>同一套規則與指標，可直接比較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</a:rPr>
                        <a:t>專家問答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排隊等資安專家查證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8F7E"/>
                          </a:solidFill>
                        </a:rPr>
                        <a:t>自然語言即問即答，答案引用工具數據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</a:rPr>
                        <a:t>稽核佐證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事後補資料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8F7E"/>
                          </a:solidFill>
                        </a:rPr>
                        <a:t>每次分析自動留下防竄改紀錄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kpi-note-circle"/>
          <p:cNvSpPr/>
          <p:nvPr/>
        </p:nvSpPr>
        <p:spPr>
          <a:xfrm>
            <a:off x="548640" y="5532120"/>
            <a:ext cx="502920" cy="50292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5" name="kpi-not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5642762"/>
            <a:ext cx="281635" cy="28163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55321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工時與成本效益將於 Phase 0 量測現況基準後，以實測數據回報，不預先假設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對公司 AD 安全的具體收穫</a:t>
            </a:r>
            <a:endParaRPr lang="en-US" sz="3000" dirty="0"/>
          </a:p>
        </p:txBody>
      </p:sp>
      <p:sp>
        <p:nvSpPr>
          <p:cNvPr id="3" name="gain-0"/>
          <p:cNvSpPr/>
          <p:nvPr/>
        </p:nvSpPr>
        <p:spPr>
          <a:xfrm>
            <a:off x="548640" y="14630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gain-0-circle"/>
          <p:cNvSpPr/>
          <p:nvPr/>
        </p:nvSpPr>
        <p:spPr>
          <a:xfrm>
            <a:off x="868680" y="1828800"/>
            <a:ext cx="868680" cy="86868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5" name="gain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790" y="2019910"/>
            <a:ext cx="486461" cy="4864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</a:rPr>
              <a:t>守住最高權限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2377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通往 Domain Admins 與雲端全域管理員的路徑，從看不見變成可計數、可追蹤</a:t>
            </a:r>
            <a:endParaRPr lang="en-US" sz="1600" dirty="0"/>
          </a:p>
        </p:txBody>
      </p:sp>
      <p:sp>
        <p:nvSpPr>
          <p:cNvPr id="8" name="gain-1"/>
          <p:cNvSpPr/>
          <p:nvPr/>
        </p:nvSpPr>
        <p:spPr>
          <a:xfrm>
            <a:off x="6172200" y="14630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gain-1-circle"/>
          <p:cNvSpPr/>
          <p:nvPr/>
        </p:nvSpPr>
        <p:spPr>
          <a:xfrm>
            <a:off x="6492240" y="1828800"/>
            <a:ext cx="868680" cy="86868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10" name="gain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350" y="2019910"/>
            <a:ext cx="486461" cy="48646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3524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</a:rPr>
              <a:t>補上混合交界面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7635240" y="2377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Entra Connect、AD FS、憑證服務自動列入最高等級保護</a:t>
            </a:r>
            <a:endParaRPr lang="en-US" sz="1600" dirty="0"/>
          </a:p>
        </p:txBody>
      </p:sp>
      <p:sp>
        <p:nvSpPr>
          <p:cNvPr id="13" name="gain-2"/>
          <p:cNvSpPr/>
          <p:nvPr/>
        </p:nvSpPr>
        <p:spPr>
          <a:xfrm>
            <a:off x="548640" y="379476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gain-2-circle"/>
          <p:cNvSpPr/>
          <p:nvPr/>
        </p:nvSpPr>
        <p:spPr>
          <a:xfrm>
            <a:off x="868680" y="4160520"/>
            <a:ext cx="868680" cy="86868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15" name="gain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790" y="4351630"/>
            <a:ext cx="486461" cy="48646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1168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</a:rPr>
              <a:t>子公司一致基準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2011680" y="4709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每個法人都有同一套 Profile、缺口清單與修補順序</a:t>
            </a:r>
            <a:endParaRPr lang="en-US" sz="1600" dirty="0"/>
          </a:p>
        </p:txBody>
      </p:sp>
      <p:sp>
        <p:nvSpPr>
          <p:cNvPr id="18" name="gain-3"/>
          <p:cNvSpPr/>
          <p:nvPr/>
        </p:nvSpPr>
        <p:spPr>
          <a:xfrm>
            <a:off x="6172200" y="379476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gain-3-circle"/>
          <p:cNvSpPr/>
          <p:nvPr/>
        </p:nvSpPr>
        <p:spPr>
          <a:xfrm>
            <a:off x="6492240" y="4160520"/>
            <a:ext cx="868680" cy="86868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20" name="gain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350" y="4351630"/>
            <a:ext cx="486461" cy="48646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3524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</a:rPr>
              <a:t>稽核與客戶要求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7635240" y="4709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防竄改紀錄與每季報告，可作為 ISO 27001、SEMI E187 與客戶稽核佐證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 不碰權限：四項保證</a:t>
            </a:r>
            <a:endParaRPr lang="en-US" sz="3000" dirty="0"/>
          </a:p>
        </p:txBody>
      </p:sp>
      <p:sp>
        <p:nvSpPr>
          <p:cNvPr id="3" name="g-0"/>
          <p:cNvSpPr/>
          <p:nvPr/>
        </p:nvSpPr>
        <p:spPr>
          <a:xfrm>
            <a:off x="548640" y="13716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g-0-circle"/>
          <p:cNvSpPr/>
          <p:nvPr/>
        </p:nvSpPr>
        <p:spPr>
          <a:xfrm>
            <a:off x="822960" y="1691640"/>
            <a:ext cx="914400" cy="91440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5" name="g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8928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</a:rPr>
              <a:t>只讀不寫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AI 只能查詢，沒有任何修改帳號或設定的能力；技術上設有四道獨立防線</a:t>
            </a:r>
            <a:endParaRPr lang="en-US" sz="1500" dirty="0"/>
          </a:p>
        </p:txBody>
      </p:sp>
      <p:sp>
        <p:nvSpPr>
          <p:cNvPr id="8" name="g-1"/>
          <p:cNvSpPr/>
          <p:nvPr/>
        </p:nvSpPr>
        <p:spPr>
          <a:xfrm>
            <a:off x="3364992" y="13716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g-1-circle"/>
          <p:cNvSpPr/>
          <p:nvPr/>
        </p:nvSpPr>
        <p:spPr>
          <a:xfrm>
            <a:off x="3639312" y="1691640"/>
            <a:ext cx="914400" cy="91440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10" name="g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89280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9312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</a:rPr>
              <a:t>資料不出公司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39312" y="33832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使用公司地端 GPU 上的模型，權限資料與分析結果都留在內部</a:t>
            </a:r>
            <a:endParaRPr lang="en-US" sz="1500" dirty="0"/>
          </a:p>
        </p:txBody>
      </p:sp>
      <p:sp>
        <p:nvSpPr>
          <p:cNvPr id="13" name="g-2"/>
          <p:cNvSpPr/>
          <p:nvPr/>
        </p:nvSpPr>
        <p:spPr>
          <a:xfrm>
            <a:off x="6181344" y="13716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g-2-circle"/>
          <p:cNvSpPr/>
          <p:nvPr/>
        </p:nvSpPr>
        <p:spPr>
          <a:xfrm>
            <a:off x="6455664" y="1691640"/>
            <a:ext cx="914400" cy="91440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15" name="g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892808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55664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</a:rPr>
              <a:t>變更須人工核准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455664" y="33832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一般變更單人核准，最高權限相關變更須兩人核准才可執行</a:t>
            </a:r>
            <a:endParaRPr lang="en-US" sz="1500" dirty="0"/>
          </a:p>
        </p:txBody>
      </p:sp>
      <p:sp>
        <p:nvSpPr>
          <p:cNvPr id="18" name="g-3"/>
          <p:cNvSpPr/>
          <p:nvPr/>
        </p:nvSpPr>
        <p:spPr>
          <a:xfrm>
            <a:off x="8997696" y="13716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g-3-circle"/>
          <p:cNvSpPr/>
          <p:nvPr/>
        </p:nvSpPr>
        <p:spPr>
          <a:xfrm>
            <a:off x="9272016" y="1691640"/>
            <a:ext cx="914400" cy="91440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20" name="g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1892808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72016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</a:rPr>
              <a:t>全程可稽核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272016" y="33832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每次查詢、分析與被拒絕的操作都留下防竄改紀錄</a:t>
            </a:r>
            <a:endParaRPr lang="en-US" sz="1500" dirty="0"/>
          </a:p>
        </p:txBody>
      </p:sp>
      <p:sp>
        <p:nvSpPr>
          <p:cNvPr id="23" name="tier0-band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5440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AI 平台本身握有完整權限關係圖，因此以最高等級（Tier 0）隔離與管理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路線圖：四階段逐步放寬，過閘門才推進</a:t>
            </a:r>
            <a:endParaRPr lang="en-US" sz="3000" dirty="0"/>
          </a:p>
        </p:txBody>
      </p:sp>
      <p:sp>
        <p:nvSpPr>
          <p:cNvPr id="3" name="ph-0"/>
          <p:cNvSpPr/>
          <p:nvPr/>
        </p:nvSpPr>
        <p:spPr>
          <a:xfrm>
            <a:off x="548640" y="18745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3F3F0"/>
          </a:solidFill>
          <a:ln w="15875">
            <a:solidFill>
              <a:srgbClr val="0E8F7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8F7E"/>
                </a:solidFill>
              </a:rPr>
              <a:t>Phase 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</a:rPr>
              <a:t>基礎與盤點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資料分級、AI 平台、自動盤點</a:t>
            </a:r>
            <a:endParaRPr lang="en-US" sz="1400" dirty="0"/>
          </a:p>
        </p:txBody>
      </p:sp>
      <p:sp>
        <p:nvSpPr>
          <p:cNvPr id="7" name="ph-1"/>
          <p:cNvSpPr/>
          <p:nvPr/>
        </p:nvSpPr>
        <p:spPr>
          <a:xfrm>
            <a:off x="3364992" y="18745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472"/>
                </a:solidFill>
              </a:rPr>
              <a:t>Phase 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</a:rPr>
              <a:t>看見風險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預防評估、攻擊路徑、日誌補強</a:t>
            </a:r>
            <a:endParaRPr lang="en-US" sz="1400" dirty="0"/>
          </a:p>
        </p:txBody>
      </p:sp>
      <p:sp>
        <p:nvSpPr>
          <p:cNvPr id="11" name="ph-2"/>
          <p:cNvSpPr/>
          <p:nvPr/>
        </p:nvSpPr>
        <p:spPr>
          <a:xfrm>
            <a:off x="6181344" y="18745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9944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472"/>
                </a:solidFill>
              </a:rPr>
              <a:t>Phase 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</a:rPr>
              <a:t>偵測與分流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AI 告警分流、偵測規則自動化</a:t>
            </a:r>
            <a:endParaRPr lang="en-US" sz="1400" dirty="0"/>
          </a:p>
        </p:txBody>
      </p:sp>
      <p:sp>
        <p:nvSpPr>
          <p:cNvPr id="15" name="ph-3"/>
          <p:cNvSpPr/>
          <p:nvPr/>
        </p:nvSpPr>
        <p:spPr>
          <a:xfrm>
            <a:off x="8997696" y="18745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26296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472"/>
                </a:solidFill>
              </a:rPr>
              <a:t>Phase 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</a:rPr>
              <a:t>硬化與擴展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人工核准變更、擴展至子公司</a:t>
            </a:r>
            <a:endParaRPr lang="en-US" sz="1400" dirty="0"/>
          </a:p>
        </p:txBody>
      </p:sp>
      <p:sp>
        <p:nvSpPr>
          <p:cNvPr id="19" name="now"/>
          <p:cNvSpPr/>
          <p:nvPr/>
        </p:nvSpPr>
        <p:spPr>
          <a:xfrm>
            <a:off x="548640" y="1325880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20" name="now-text"/>
          <p:cNvSpPr txBox="1"/>
          <p:nvPr/>
        </p:nvSpPr>
        <p:spPr>
          <a:xfrm>
            <a:off x="548640" y="13258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目前：MVP 已完成，待 LAB 驗證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11091672" cy="91"/>
          </a:xfrm>
          <a:prstGeom prst="line">
            <a:avLst/>
          </a:prstGeom>
          <a:noFill/>
          <a:ln w="1905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22" name="gate-G0"/>
          <p:cNvSpPr/>
          <p:nvPr/>
        </p:nvSpPr>
        <p:spPr>
          <a:xfrm>
            <a:off x="3076956" y="4480560"/>
            <a:ext cx="365760" cy="365760"/>
          </a:xfrm>
          <a:prstGeom prst="diamond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28316" y="4937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G0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979676" y="5303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資料分級核定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模型評測達標</a:t>
            </a:r>
            <a:endParaRPr lang="en-US" sz="1300" dirty="0"/>
          </a:p>
        </p:txBody>
      </p:sp>
      <p:sp>
        <p:nvSpPr>
          <p:cNvPr id="25" name="gate-G1"/>
          <p:cNvSpPr/>
          <p:nvPr/>
        </p:nvSpPr>
        <p:spPr>
          <a:xfrm>
            <a:off x="5893308" y="4480560"/>
            <a:ext cx="365760" cy="365760"/>
          </a:xfrm>
          <a:prstGeom prst="diamond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44668" y="4937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G1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796028" y="5303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最高權限路徑基準建立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日誌覆蓋達標</a:t>
            </a:r>
            <a:endParaRPr lang="en-US" sz="1300" dirty="0"/>
          </a:p>
        </p:txBody>
      </p:sp>
      <p:sp>
        <p:nvSpPr>
          <p:cNvPr id="28" name="gate-G2"/>
          <p:cNvSpPr/>
          <p:nvPr/>
        </p:nvSpPr>
        <p:spPr>
          <a:xfrm>
            <a:off x="8709660" y="4480560"/>
            <a:ext cx="365760" cy="365760"/>
          </a:xfrm>
          <a:prstGeom prst="diamond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61020" y="4937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G2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612380" y="5303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偵測驗證通過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AI 分流準確率達標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成效如何衡量：每季回報五項指標</a:t>
            </a:r>
            <a:endParaRPr lang="en-US" sz="3000" dirty="0"/>
          </a:p>
        </p:txBody>
      </p:sp>
      <p:sp>
        <p:nvSpPr>
          <p:cNvPr id="3" name="k-0"/>
          <p:cNvSpPr/>
          <p:nvPr/>
        </p:nvSpPr>
        <p:spPr>
          <a:xfrm>
            <a:off x="548640" y="13258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922E"/>
                </a:solidFill>
              </a:rPr>
              <a:t>↓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</a:rPr>
              <a:t>通往最高權限的路徑數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3258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每月重算，追蹤下降趨勢</a:t>
            </a:r>
            <a:endParaRPr lang="en-US" sz="1500" dirty="0"/>
          </a:p>
        </p:txBody>
      </p:sp>
      <p:sp>
        <p:nvSpPr>
          <p:cNvPr id="7" name="k-1"/>
          <p:cNvSpPr/>
          <p:nvPr/>
        </p:nvSpPr>
        <p:spPr>
          <a:xfrm>
            <a:off x="548640" y="222199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21992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922E"/>
                </a:solidFill>
              </a:rPr>
              <a:t>↓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22199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</a:rPr>
              <a:t>高風險發現平均修補天數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22199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評估報告前後比對</a:t>
            </a:r>
            <a:endParaRPr lang="en-US" sz="1500" dirty="0"/>
          </a:p>
        </p:txBody>
      </p:sp>
      <p:sp>
        <p:nvSpPr>
          <p:cNvPr id="11" name="k-2"/>
          <p:cNvSpPr/>
          <p:nvPr/>
        </p:nvSpPr>
        <p:spPr>
          <a:xfrm>
            <a:off x="548640" y="311810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F7E"/>
                </a:solidFill>
              </a:rPr>
              <a:t>↑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11810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</a:rPr>
              <a:t>日誌覆蓋率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11810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稽核原則與日誌送達比例</a:t>
            </a:r>
            <a:endParaRPr lang="en-US" sz="1500" dirty="0"/>
          </a:p>
        </p:txBody>
      </p:sp>
      <p:sp>
        <p:nvSpPr>
          <p:cNvPr id="15" name="k-3"/>
          <p:cNvSpPr/>
          <p:nvPr/>
        </p:nvSpPr>
        <p:spPr>
          <a:xfrm>
            <a:off x="548640" y="401421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014216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F7E"/>
                </a:solidFill>
              </a:rPr>
              <a:t>↑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01421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</a:rPr>
              <a:t>攻擊手法偵測覆蓋率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401421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經演練驗證會觸發的手法數（Phase 2 起）</a:t>
            </a:r>
            <a:endParaRPr lang="en-US" sz="1500" dirty="0"/>
          </a:p>
        </p:txBody>
      </p:sp>
      <p:sp>
        <p:nvSpPr>
          <p:cNvPr id="19" name="k-4"/>
          <p:cNvSpPr/>
          <p:nvPr/>
        </p:nvSpPr>
        <p:spPr>
          <a:xfrm>
            <a:off x="548640" y="491032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910328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F7E"/>
                </a:solidFill>
              </a:rPr>
              <a:t>↑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9103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</a:rPr>
              <a:t>已導入法人數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9103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完成盤點並啟用防護的法人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基準值於 Phase 0 盤點後量測，目標值依基準訂定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主要風險與對策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011680"/>
                <a:gridCol w="560527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風險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影響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對策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AI 平台本身成為攻擊目標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權限藍圖外洩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以最高等級隔離、專用管理工作站、存取全程稽核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硬化動作影響產線或研發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停工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先開稽核模式觀察、分批導入、備妥回滾計畫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子公司配合度不一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範圍縮減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管理層授權、分級導入、可選就地分析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地端模型品質不穩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分析錯誤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上線前評測門檻；報告數字不經 AI 改寫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isk-note-circle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5" name="risk-not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5597042"/>
            <a:ext cx="281635" cy="28163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54864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完整風險清單與對策見專案計畫書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需要您支持的三件事</a:t>
            </a:r>
            <a:endParaRPr lang="en-US" sz="3000" dirty="0"/>
          </a:p>
        </p:txBody>
      </p:sp>
      <p:sp>
        <p:nvSpPr>
          <p:cNvPr id="3" name="num-1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4" name="num-1-text"/>
          <p:cNvSpPr txBox="1"/>
          <p:nvPr/>
        </p:nvSpPr>
        <p:spPr>
          <a:xfrm>
            <a:off x="5486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4173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核定 AD 資料分級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權限關係圖與弱點報告列為極機密，作為平台存取與分發的依據（Phase 0 閘門條件）</a:t>
            </a:r>
            <a:endParaRPr lang="en-US" sz="1500" dirty="0"/>
          </a:p>
        </p:txBody>
      </p:sp>
      <p:sp>
        <p:nvSpPr>
          <p:cNvPr id="7" name="num-2"/>
          <p:cNvSpPr/>
          <p:nvPr/>
        </p:nvSpPr>
        <p:spPr>
          <a:xfrm>
            <a:off x="548640" y="2788920"/>
            <a:ext cx="731520" cy="73152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8" name="num-2-text"/>
          <p:cNvSpPr txBox="1"/>
          <p:nvPr/>
        </p:nvSpPr>
        <p:spPr>
          <a:xfrm>
            <a:off x="54864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7432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授權子公司導入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24612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由管理層發起，並確認各子公司資料可否回傳總公司或改為就地分析</a:t>
            </a:r>
            <a:endParaRPr lang="en-US" sz="1500" dirty="0"/>
          </a:p>
        </p:txBody>
      </p:sp>
      <p:sp>
        <p:nvSpPr>
          <p:cNvPr id="11" name="num-3"/>
          <p:cNvSpPr/>
          <p:nvPr/>
        </p:nvSpPr>
        <p:spPr>
          <a:xfrm>
            <a:off x="548640" y="4114800"/>
            <a:ext cx="731520" cy="73152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12" name="num-3-text"/>
          <p:cNvSpPr txBox="1"/>
          <p:nvPr/>
        </p:nvSpPr>
        <p:spPr>
          <a:xfrm>
            <a:off x="54864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0690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以總公司為第一個試行點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57200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AD 與 IAM 團隊配合 LAB 驗證與修補排程，試行結果作為子公司導入範本</a:t>
            </a:r>
            <a:endParaRPr lang="en-US" sz="1500" dirty="0"/>
          </a:p>
        </p:txBody>
      </p:sp>
      <p:sp>
        <p:nvSpPr>
          <p:cNvPr id="15" name="next30"/>
          <p:cNvSpPr/>
          <p:nvPr/>
        </p:nvSpPr>
        <p:spPr>
          <a:xfrm>
            <a:off x="7863840" y="1371600"/>
            <a:ext cx="3776472" cy="3886200"/>
          </a:xfrm>
          <a:prstGeom prst="roundRect">
            <a:avLst>
              <a:gd name="adj" fmla="val 193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3816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</a:rPr>
              <a:t>核准後 30 天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214884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LAB 完成部署與實機驗證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總公司首次盤點與缺口報告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地端模型評測與分工定案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第一份最高權限路徑報告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5778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預算、人力與起始日期為待核定事項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2"/>
          <p:cNvSpPr/>
          <p:nvPr>
            <p:ph idx="112" type="title" hasCustomPrompt="1"/>
          </p:nvPr>
        </p:nvSpPr>
        <p:spPr>
          <a:xfrm>
            <a:off x="731520" y="214884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謝謝</a:t>
            </a:r>
            <a:endParaRPr lang="en-US" sz="4000" dirty="0"/>
          </a:p>
        </p:txBody>
      </p:sp>
      <p:sp>
        <p:nvSpPr>
          <p:cNvPr id="3" name="Text 12"/>
          <p:cNvSpPr/>
          <p:nvPr>
            <p:ph idx="113" type="body" hasCustomPrompt="1"/>
          </p:nvPr>
        </p:nvSpPr>
        <p:spPr>
          <a:xfrm>
            <a:off x="731520" y="37033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技術細節請參閱〈hybrid-idsec 技術架構〉簡報與專案計畫書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dentity Guard">
  <a:themeElements>
    <a:clrScheme name="Identity Guard">
      <a:dk1>
        <a:srgbClr val="1B2430"/>
      </a:dk1>
      <a:lt1>
        <a:srgbClr val="FFFFFF"/>
      </a:lt1>
      <a:dk2>
        <a:srgbClr val="0F2A3A"/>
      </a:dk2>
      <a:lt2>
        <a:srgbClr val="EEF2F5"/>
      </a:lt2>
      <a:accent1>
        <a:srgbClr val="0E8F7E"/>
      </a:accent1>
      <a:accent2>
        <a:srgbClr val="D9922E"/>
      </a:accent2>
      <a:accent3>
        <a:srgbClr val="C2410C"/>
      </a:accent3>
      <a:accent4>
        <a:srgbClr val="3B6EA8"/>
      </a:accent4>
      <a:accent5>
        <a:srgbClr val="6B7A8F"/>
      </a:accent5>
      <a:accent6>
        <a:srgbClr val="9FD8CF"/>
      </a:accent6>
      <a:hlink>
        <a:srgbClr val="0E8F7E"/>
      </a:hlink>
      <a:folHlink>
        <a:srgbClr val="6B7A8F"/>
      </a:folHlink>
    </a:clrScheme>
    <a:fontScheme name="Identity Guard">
      <a:majorFont>
        <a:latin typeface="Calibr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Realtek Security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 與 Entra ID 混合環境 AI 資安防護｜管理簡報</dc:title>
  <dc:subject>PptxGenJS Presentation</dc:subject>
  <dc:creator>TsungYing Pai</dc:creator>
  <cp:lastModifiedBy>TsungYing Pai</cp:lastModifiedBy>
  <cp:revision>1</cp:revision>
  <dcterms:created xsi:type="dcterms:W3CDTF">2026-10-13T00:58:15Z</dcterms:created>
  <dcterms:modified xsi:type="dcterms:W3CDTF">2026-10-13T00:58:15Z</dcterms:modified>
</cp:coreProperties>
</file>