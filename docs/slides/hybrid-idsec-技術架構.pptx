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開場" id="{ccf70696-2e45-1bf5-5ccb-3c5e7110b94e}">
          <p14:sldIdLst>
            <p14:sldId id="256"/>
            <p14:sldId id="257"/>
            <p14:sldId id="258"/>
            <p14:sldId id="259"/>
          </p14:sldIdLst>
        </p14:section>
        <p14:section name="規則機制" id="{c60fb2c8-aaac-aadc-6f7c-b3c4c908e7ef}">
          <p14:sldIdLst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Review 機制" id="{cd3a089f-339a-4294-d45a-3e15a07f0c53}">
          <p14:sldIdLst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部署與下一步" id="{7ea44b46-c0b6-05ae-501d-762e05ff26d7}">
          <p14:sldIdLst>
            <p14:sldId id="274"/>
            <p14:sldId id="275"/>
            <p14:sldId id="276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43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430"/>
                </a:solidFill>
                <a:latin typeface="+mn-lt"/>
              </a:rPr>
              <a:t>hq：依序修補後仍可到達 Tier 0 的帳號數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仍有路徑的帳號</c:v>
                </c:pt>
              </c:strCache>
            </c:strRef>
          </c:tx>
          <c:spPr>
            <a:solidFill>
              <a:srgbClr val="D992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修補前</c:v>
                  </c:pt>
                  <c:pt idx="1">
                    <c:v>第 1 步</c:v>
                  </c:pt>
                  <c:pt idx="2">
                    <c:v>第 2 步</c:v>
                  </c:pt>
                  <c:pt idx="3">
                    <c:v>第 3 步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234</c:v>
                </c:pt>
                <c:pt idx="1">
                  <c:v>8</c:v>
                </c:pt>
                <c:pt idx="2">
                  <c:v>5</c:v>
                </c:pt>
                <c:pt idx="3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0"/>
        </c:scaling>
        <c:delete val="0"/>
        <c:axPos val="l"/>
        <c:majorGridlines>
          <c:spPr>
            <a:ln w="6350" cap="flat">
              <a:solidFill>
                <a:srgbClr val="E3E7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47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本簡報說明 v0.1 的實作架構，重點放在兩件事：能力矩陣規則如何決定每個法人啟用什麼，以及從設計到事後的多層 Review 機制。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三個設計原則對應三個問題：每個法人做什麼（規則）、結果可不可信（確定性）、AI 會不會闖禍（Review）。底部數字皆來自 v0.1 實測：pytest 23 項、verify_mvp.py 7 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兩個控制點用 teal 標示：能力矩陣決定核心模組與 AI 子代理（teal 粗線），人工審核閘門決定任何變更能否執行。藍色為 AI 層，虛線為 Phase 2–3 尚未實作的執行類功能。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指令：idsec run [法人]。產出放在 output/&lt;法人&gt;/。這五個檔案是 MCP Server 與 Agent 的資料來源，Agent 不會另外推算。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指紋由 discovery.py 產生，完全確定性。LDAP / Graph 讀不到的部分（稽核原則、Sysmon、SIEM）由 IT 填 tooling.yaml；未提供時標為未知，並在缺口報告中列出。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規則檔 config/capability_matrix.yaml。引擎 capability.py 約 90 行：lookup 取指紋路徑、evaluate 遞迴求值、render 代入文字。條件必須恰好一個運算子，否則拋錯，避免寫錯的規則被靜默略過。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數字來自模擬資料實跑（idsec discover）。模組總數 9 包含 3 個 Phase 2 偵測模組，MVP 只判定是否可啟用、不執行。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缺口報告的排序原則：先補擋住最多模組的缺口。以 sub-a 為例，GAP-SIEM 一次擋住三個偵測模組，優先序高於 GAP-AUDIT。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中心性指標只能估計，可能推薦移除後效果很小的邊。實際移除重算的成本可接受（候選邊上限 15 條），而且每一步的效果是精確的。報告與 MCP 的 remediation_order 都是這個結果。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sub-b 的第一名是 medium 嚴重度的無限制委派，卻排在 high 的服務帳號前面，因為它真的在通往 Tier 0 的路徑上（HasSession）。這就是加權的目的：嚴重度是通用評分，路徑是這個環境的事實。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後面四頁依序展開：四道防線（執行時）、人工審核閘門（產出時）、規則變更流程（設計時）、稽核鏈與驗證（事後）。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四道防線彼此獨立：即使有人誤把寫入工具加進 MCP，放行清單與測試 test_all_mcp_tools_read_only_and_listed 也會擋下並失敗。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分級依據計畫書的 AI 治理控制項。L2 / L3 的核准人對應 RACI：地端 AD 變更由 AD 團隊、Entra 由 IAM、子公司環境由子公司 IT 當責。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規則改變會改變預期值，所以預期值寫在驗收腳本裡：改規則卻沒更新預期值，CI 會失敗，迫使變更被看見。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竄改、刪除、插入三種情況都能偵測：內容變動會讓 hash 不符，刪除或插入會讓 prev_hash 對不上。測試 test_audit_chain_detects_tampering 涵蓋前兩種。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詳細步驟與預期值見 docs/VERIFICATION.md，最後一節是驗收紀錄表。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Claude Agent SDK 內含原生 CLI，映像不需 Node.js。compose 語法已驗證；映像尚未實際 build（開發環境無 Docker daemon），第一次部署請完整走 V9。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左右四項一一對應：每個尚未驗證的項目都有對應的下一步。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F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9326880" y="548640"/>
            <a:ext cx="1005840" cy="365760"/>
          </a:xfrm>
          <a:prstGeom prst="line">
            <a:avLst/>
          </a:prstGeom>
          <a:noFill/>
          <a:ln w="15875">
            <a:solidFill>
              <a:srgbClr val="0E8F7E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32720" y="548640"/>
            <a:ext cx="822960" cy="640080"/>
          </a:xfrm>
          <a:prstGeom prst="line">
            <a:avLst/>
          </a:prstGeom>
          <a:noFill/>
          <a:ln w="15875">
            <a:solidFill>
              <a:srgbClr val="0E8F7E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914400"/>
            <a:ext cx="731520" cy="640080"/>
          </a:xfrm>
          <a:prstGeom prst="line">
            <a:avLst/>
          </a:prstGeom>
          <a:noFill/>
          <a:ln w="15875">
            <a:solidFill>
              <a:srgbClr val="0E8F7E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10058400" y="1188720"/>
            <a:ext cx="1097280" cy="365760"/>
          </a:xfrm>
          <a:prstGeom prst="line">
            <a:avLst/>
          </a:prstGeom>
          <a:noFill/>
          <a:ln w="15875">
            <a:solidFill>
              <a:srgbClr val="0E8F7E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1188720"/>
            <a:ext cx="182880" cy="1005840"/>
          </a:xfrm>
          <a:prstGeom prst="line">
            <a:avLst/>
          </a:prstGeom>
          <a:noFill/>
          <a:ln w="15875">
            <a:solidFill>
              <a:srgbClr val="0E8F7E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9509760" y="1554480"/>
            <a:ext cx="548640" cy="548640"/>
          </a:xfrm>
          <a:prstGeom prst="line">
            <a:avLst/>
          </a:prstGeom>
          <a:noFill/>
          <a:ln w="15875">
            <a:solidFill>
              <a:srgbClr val="0E8F7E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44584" y="832104"/>
            <a:ext cx="164592" cy="164592"/>
          </a:xfrm>
          <a:prstGeom prst="rect">
            <a:avLst>
              <a:gd name="adj" fmla="val 50000"/>
            </a:avLst>
          </a:prstGeom>
          <a:solidFill>
            <a:srgbClr val="0E8F7E"/>
          </a:solidFill>
          <a:ln w="12700">
            <a:solidFill>
              <a:srgbClr val="0E8F7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50424" y="466344"/>
            <a:ext cx="164592" cy="164592"/>
          </a:xfrm>
          <a:prstGeom prst="rect">
            <a:avLst>
              <a:gd name="adj" fmla="val 50000"/>
            </a:avLst>
          </a:prstGeom>
          <a:solidFill>
            <a:srgbClr val="0E8F7E"/>
          </a:solidFill>
          <a:ln w="12700">
            <a:solidFill>
              <a:srgbClr val="0E8F7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073384" y="1106424"/>
            <a:ext cx="164592" cy="164592"/>
          </a:xfrm>
          <a:prstGeom prst="rect">
            <a:avLst>
              <a:gd name="adj" fmla="val 50000"/>
            </a:avLst>
          </a:prstGeom>
          <a:solidFill>
            <a:srgbClr val="0E8F7E"/>
          </a:solidFill>
          <a:ln w="12700">
            <a:solidFill>
              <a:srgbClr val="0E8F7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976104" y="1472184"/>
            <a:ext cx="164592" cy="164592"/>
          </a:xfrm>
          <a:prstGeom prst="rect">
            <a:avLst>
              <a:gd name="adj" fmla="val 50000"/>
            </a:avLst>
          </a:prstGeom>
          <a:solidFill>
            <a:srgbClr val="0E8F7E"/>
          </a:solidFill>
          <a:ln w="12700">
            <a:solidFill>
              <a:srgbClr val="0E8F7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256264" y="2112264"/>
            <a:ext cx="164592" cy="164592"/>
          </a:xfrm>
          <a:prstGeom prst="rect">
            <a:avLst>
              <a:gd name="adj" fmla="val 50000"/>
            </a:avLst>
          </a:prstGeom>
          <a:solidFill>
            <a:srgbClr val="D9922E"/>
          </a:solidFill>
          <a:ln w="12700">
            <a:solidFill>
              <a:srgbClr val="D992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27464" y="2020824"/>
            <a:ext cx="164592" cy="164592"/>
          </a:xfrm>
          <a:prstGeom prst="rect">
            <a:avLst>
              <a:gd name="adj" fmla="val 50000"/>
            </a:avLst>
          </a:prstGeom>
          <a:solidFill>
            <a:srgbClr val="0E8F7E"/>
          </a:solidFill>
          <a:ln w="12700">
            <a:solidFill>
              <a:srgbClr val="0E8F7E"/>
            </a:solidFill>
            <a:prstDash val="solid"/>
          </a:ln>
        </p:spPr>
      </p:sp>
      <p:sp>
        <p:nvSpPr>
          <p:cNvPr id="14" name="Text 12"/>
          <p:cNvSpPr/>
          <p:nvPr>
            <p:ph idx="112" type="title" hasCustomPrompt="1"/>
          </p:nvPr>
        </p:nvSpPr>
        <p:spPr>
          <a:xfrm>
            <a:off x="731520" y="2148840"/>
            <a:ext cx="102412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15" name="Text 12"/>
          <p:cNvSpPr/>
          <p:nvPr>
            <p:ph idx="113" type="body" hasCustomPrompt="1"/>
          </p:nvPr>
        </p:nvSpPr>
        <p:spPr>
          <a:xfrm>
            <a:off x="731520" y="3703320"/>
            <a:ext cx="102412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73152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3D0"/>
                </a:solidFill>
              </a:rPr>
              <a:t>hybrid-idsec 技術架構｜v0.1（Phase 0+1）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rgbClr val="0F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2011680"/>
            <a:ext cx="27432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5400" b="1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3017520"/>
            <a:ext cx="10515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023360"/>
            <a:ext cx="10515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AFC3D0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hybrid-idsec 技術架構｜v0.1（Phase 0+1）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2"/>
          <p:cNvSpPr/>
          <p:nvPr>
            <p:ph idx="112" type="title" hasCustomPrompt="1"/>
          </p:nvPr>
        </p:nvSpPr>
        <p:spPr>
          <a:xfrm>
            <a:off x="731520" y="2148840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hybrid-idsec 技術架構</a:t>
            </a:r>
            <a:endParaRPr lang="en-US" sz="4000" dirty="0"/>
          </a:p>
        </p:txBody>
      </p:sp>
      <p:sp>
        <p:nvSpPr>
          <p:cNvPr id="3" name="Text 12"/>
          <p:cNvSpPr/>
          <p:nvPr>
            <p:ph idx="113" type="body" hasCustomPrompt="1"/>
          </p:nvPr>
        </p:nvSpPr>
        <p:spPr>
          <a:xfrm>
            <a:off x="731520" y="3703320"/>
            <a:ext cx="10241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AD + Entra ID 混合環境 AI 資安防護平台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規則驅動・唯讀・可審核｜v0.1（Phase 0+1）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一頁看懂：規則決定做什麼，AI 只負責解釋</a:t>
            </a:r>
            <a:endParaRPr lang="en-US" sz="3000" dirty="0"/>
          </a:p>
        </p:txBody>
      </p:sp>
      <p:sp>
        <p:nvSpPr>
          <p:cNvPr id="3" name="pillar-0"/>
          <p:cNvSpPr/>
          <p:nvPr/>
        </p:nvSpPr>
        <p:spPr>
          <a:xfrm>
            <a:off x="548640" y="1325880"/>
            <a:ext cx="3520440" cy="2971800"/>
          </a:xfrm>
          <a:prstGeom prst="roundRect">
            <a:avLst>
              <a:gd name="adj" fmla="val 2462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pillar-0-circle"/>
          <p:cNvSpPr/>
          <p:nvPr/>
        </p:nvSpPr>
        <p:spPr>
          <a:xfrm>
            <a:off x="822960" y="1554480"/>
            <a:ext cx="640080" cy="640080"/>
          </a:xfrm>
          <a:prstGeom prst="ellipse">
            <a:avLst/>
          </a:prstGeom>
          <a:solidFill>
            <a:srgbClr val="0E8F7E"/>
          </a:solidFill>
          <a:ln w="12700">
            <a:solidFill>
              <a:srgbClr val="0E8F7E"/>
            </a:solidFill>
            <a:prstDash val="solid"/>
          </a:ln>
        </p:spPr>
      </p:sp>
      <p:pic>
        <p:nvPicPr>
          <p:cNvPr id="5" name="pillar-0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778" y="1695298"/>
            <a:ext cx="358445" cy="35844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3774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430"/>
                </a:solidFill>
              </a:rPr>
              <a:t>先偵測、後運行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83464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</a:rPr>
              <a:t>盤點產出環境指紋，能力矩陣（YAML 規則）據此判定 Profile、啟用模組與缺口。新增或調整規則不需改程式。</a:t>
            </a:r>
            <a:endParaRPr lang="en-US" sz="1400" dirty="0"/>
          </a:p>
        </p:txBody>
      </p:sp>
      <p:sp>
        <p:nvSpPr>
          <p:cNvPr id="8" name="pillar-1"/>
          <p:cNvSpPr/>
          <p:nvPr/>
        </p:nvSpPr>
        <p:spPr>
          <a:xfrm>
            <a:off x="4297680" y="1325880"/>
            <a:ext cx="3520440" cy="2971800"/>
          </a:xfrm>
          <a:prstGeom prst="roundRect">
            <a:avLst>
              <a:gd name="adj" fmla="val 2462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9" name="pillar-1-circle"/>
          <p:cNvSpPr/>
          <p:nvPr/>
        </p:nvSpPr>
        <p:spPr>
          <a:xfrm>
            <a:off x="4572000" y="1554480"/>
            <a:ext cx="640080" cy="640080"/>
          </a:xfrm>
          <a:prstGeom prst="ellipse">
            <a:avLst/>
          </a:prstGeom>
          <a:solidFill>
            <a:srgbClr val="0E8F7E"/>
          </a:solidFill>
          <a:ln w="12700">
            <a:solidFill>
              <a:srgbClr val="0E8F7E"/>
            </a:solidFill>
            <a:prstDash val="solid"/>
          </a:ln>
        </p:spPr>
      </p:sp>
      <p:pic>
        <p:nvPicPr>
          <p:cNvPr id="10" name="pillar-1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2818" y="1695298"/>
            <a:ext cx="358445" cy="35844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72000" y="23774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430"/>
                </a:solidFill>
              </a:rPr>
              <a:t>確定性優先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283464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</a:rPr>
              <a:t>攻擊路徑、弱點排序、報告全由程式計算。LLM 只做自然語言解釋與問答，報告不經 LLM 改寫。</a:t>
            </a:r>
            <a:endParaRPr lang="en-US" sz="1400" dirty="0"/>
          </a:p>
        </p:txBody>
      </p:sp>
      <p:sp>
        <p:nvSpPr>
          <p:cNvPr id="13" name="pillar-2"/>
          <p:cNvSpPr/>
          <p:nvPr/>
        </p:nvSpPr>
        <p:spPr>
          <a:xfrm>
            <a:off x="8046720" y="1325880"/>
            <a:ext cx="3520440" cy="2971800"/>
          </a:xfrm>
          <a:prstGeom prst="roundRect">
            <a:avLst>
              <a:gd name="adj" fmla="val 2462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pillar-2-circle"/>
          <p:cNvSpPr/>
          <p:nvPr/>
        </p:nvSpPr>
        <p:spPr>
          <a:xfrm>
            <a:off x="8321040" y="1554480"/>
            <a:ext cx="640080" cy="640080"/>
          </a:xfrm>
          <a:prstGeom prst="ellipse">
            <a:avLst/>
          </a:prstGeom>
          <a:solidFill>
            <a:srgbClr val="0E8F7E"/>
          </a:solidFill>
          <a:ln w="12700">
            <a:solidFill>
              <a:srgbClr val="0E8F7E"/>
            </a:solidFill>
            <a:prstDash val="solid"/>
          </a:ln>
        </p:spPr>
      </p:sp>
      <p:pic>
        <p:nvPicPr>
          <p:cNvPr id="15" name="pillar-2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1858" y="1695298"/>
            <a:ext cx="358445" cy="35844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21040" y="23774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430"/>
                </a:solidFill>
              </a:rPr>
              <a:t>多層 Review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321040" y="283464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</a:rPr>
              <a:t>設計時審規則、執行時四道防線、產出時人工審核分級、事後以 hash-chain 稽核鏈與 V1–V11 驗證追溯。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45720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0E8F7E"/>
                </a:solidFill>
              </a:rPr>
              <a:t>3</a:t>
            </a:r>
            <a:endParaRPr lang="en-US" sz="44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53949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</a:rPr>
              <a:t>種 Profile 自動判定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3364992" y="45720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0E8F7E"/>
                </a:solidFill>
              </a:rPr>
              <a:t>18</a:t>
            </a:r>
            <a:endParaRPr lang="en-US" sz="4400" dirty="0"/>
          </a:p>
        </p:txBody>
      </p:sp>
      <p:sp>
        <p:nvSpPr>
          <p:cNvPr id="21" name="Text 16"/>
          <p:cNvSpPr txBox="1"/>
          <p:nvPr/>
        </p:nvSpPr>
        <p:spPr>
          <a:xfrm>
            <a:off x="3364992" y="53949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</a:rPr>
              <a:t>個 MCP 工具，全部唯讀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6181344" y="45720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0E8F7E"/>
                </a:solidFill>
              </a:rPr>
              <a:t>4</a:t>
            </a:r>
            <a:endParaRPr lang="en-US" sz="4400" dirty="0"/>
          </a:p>
        </p:txBody>
      </p:sp>
      <p:sp>
        <p:nvSpPr>
          <p:cNvPr id="23" name="Text 18"/>
          <p:cNvSpPr txBox="1"/>
          <p:nvPr/>
        </p:nvSpPr>
        <p:spPr>
          <a:xfrm>
            <a:off x="6181344" y="53949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</a:rPr>
              <a:t>道獨立防線</a:t>
            </a:r>
            <a:endParaRPr lang="en-US" sz="1400" dirty="0"/>
          </a:p>
        </p:txBody>
      </p:sp>
      <p:sp>
        <p:nvSpPr>
          <p:cNvPr id="24" name="Text 19"/>
          <p:cNvSpPr txBox="1"/>
          <p:nvPr/>
        </p:nvSpPr>
        <p:spPr>
          <a:xfrm>
            <a:off x="8997696" y="45720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0E8F7E"/>
                </a:solidFill>
              </a:rPr>
              <a:t>23 + 7</a:t>
            </a:r>
            <a:endParaRPr lang="en-US" sz="4400" dirty="0"/>
          </a:p>
        </p:txBody>
      </p:sp>
      <p:sp>
        <p:nvSpPr>
          <p:cNvPr id="25" name="Text 20"/>
          <p:cNvSpPr txBox="1"/>
          <p:nvPr/>
        </p:nvSpPr>
        <p:spPr>
          <a:xfrm>
            <a:off x="8997696" y="53949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</a:rPr>
              <a:t>項測試與驗收全數通過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系統架構：五層，兩個控制點</a:t>
            </a:r>
            <a:endParaRPr lang="en-US" sz="3000" dirty="0"/>
          </a:p>
        </p:txBody>
      </p:sp>
      <p:sp>
        <p:nvSpPr>
          <p:cNvPr id="3" name="src-0"/>
          <p:cNvSpPr/>
          <p:nvPr/>
        </p:nvSpPr>
        <p:spPr>
          <a:xfrm>
            <a:off x="548640" y="1280160"/>
            <a:ext cx="146304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B8C1CC"/>
            </a:solidFill>
            <a:prstDash val="solid"/>
          </a:ln>
        </p:spPr>
      </p:sp>
      <p:sp>
        <p:nvSpPr>
          <p:cNvPr id="4" name="src-0-text"/>
          <p:cNvSpPr txBox="1"/>
          <p:nvPr/>
        </p:nvSpPr>
        <p:spPr>
          <a:xfrm>
            <a:off x="548640" y="1280160"/>
            <a:ext cx="146304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430"/>
                </a:solidFill>
              </a:rPr>
              <a:t>地端 AD</a:t>
            </a:r>
            <a:endParaRPr lang="en-US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472"/>
                </a:solidFill>
              </a:rPr>
              <a:t>LDAP 唯讀</a:t>
            </a:r>
            <a:endParaRPr lang="en-US" sz="1300" dirty="0"/>
          </a:p>
        </p:txBody>
      </p:sp>
      <p:sp>
        <p:nvSpPr>
          <p:cNvPr id="5" name="src-1"/>
          <p:cNvSpPr/>
          <p:nvPr/>
        </p:nvSpPr>
        <p:spPr>
          <a:xfrm>
            <a:off x="2176272" y="1280160"/>
            <a:ext cx="146304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B8C1CC"/>
            </a:solidFill>
            <a:prstDash val="solid"/>
          </a:ln>
        </p:spPr>
      </p:sp>
      <p:sp>
        <p:nvSpPr>
          <p:cNvPr id="6" name="src-1-text"/>
          <p:cNvSpPr txBox="1"/>
          <p:nvPr/>
        </p:nvSpPr>
        <p:spPr>
          <a:xfrm>
            <a:off x="2176272" y="1280160"/>
            <a:ext cx="146304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430"/>
                </a:solidFill>
              </a:rPr>
              <a:t>Entra ID</a:t>
            </a:r>
            <a:endParaRPr lang="en-US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472"/>
                </a:solidFill>
              </a:rPr>
              <a:t>Graph 唯讀</a:t>
            </a:r>
            <a:endParaRPr lang="en-US" sz="1300" dirty="0"/>
          </a:p>
        </p:txBody>
      </p:sp>
      <p:sp>
        <p:nvSpPr>
          <p:cNvPr id="7" name="src-2"/>
          <p:cNvSpPr/>
          <p:nvPr/>
        </p:nvSpPr>
        <p:spPr>
          <a:xfrm>
            <a:off x="3803904" y="1280160"/>
            <a:ext cx="146304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B8C1CC"/>
            </a:solidFill>
            <a:prstDash val="solid"/>
          </a:ln>
        </p:spPr>
      </p:sp>
      <p:sp>
        <p:nvSpPr>
          <p:cNvPr id="8" name="src-2-text"/>
          <p:cNvSpPr txBox="1"/>
          <p:nvPr/>
        </p:nvSpPr>
        <p:spPr>
          <a:xfrm>
            <a:off x="3803904" y="1280160"/>
            <a:ext cx="146304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430"/>
                </a:solidFill>
              </a:rPr>
              <a:t>BloodHound CE</a:t>
            </a:r>
            <a:endParaRPr lang="en-US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472"/>
                </a:solidFill>
              </a:rPr>
              <a:t>Neo4j 唯讀</a:t>
            </a:r>
            <a:endParaRPr lang="en-US" sz="1300" dirty="0"/>
          </a:p>
        </p:txBody>
      </p:sp>
      <p:sp>
        <p:nvSpPr>
          <p:cNvPr id="9" name="src-3"/>
          <p:cNvSpPr/>
          <p:nvPr/>
        </p:nvSpPr>
        <p:spPr>
          <a:xfrm>
            <a:off x="5431536" y="1280160"/>
            <a:ext cx="146304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B8C1CC"/>
            </a:solidFill>
            <a:prstDash val="solid"/>
          </a:ln>
        </p:spPr>
      </p:sp>
      <p:sp>
        <p:nvSpPr>
          <p:cNvPr id="10" name="src-3-text"/>
          <p:cNvSpPr txBox="1"/>
          <p:nvPr/>
        </p:nvSpPr>
        <p:spPr>
          <a:xfrm>
            <a:off x="5431536" y="1280160"/>
            <a:ext cx="146304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430"/>
                </a:solidFill>
              </a:rPr>
              <a:t>評估報告</a:t>
            </a:r>
            <a:endParaRPr lang="en-US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472"/>
                </a:solidFill>
              </a:rPr>
              <a:t>PingCastle XML</a:t>
            </a:r>
            <a:endParaRPr lang="en-US" sz="1300" dirty="0"/>
          </a:p>
        </p:txBody>
      </p:sp>
      <p:sp>
        <p:nvSpPr>
          <p:cNvPr id="11" name="src-4"/>
          <p:cNvSpPr/>
          <p:nvPr/>
        </p:nvSpPr>
        <p:spPr>
          <a:xfrm>
            <a:off x="7059168" y="1280160"/>
            <a:ext cx="146304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B8C1CC"/>
            </a:solidFill>
            <a:prstDash val="solid"/>
          </a:ln>
        </p:spPr>
      </p:sp>
      <p:sp>
        <p:nvSpPr>
          <p:cNvPr id="12" name="src-4-text"/>
          <p:cNvSpPr txBox="1"/>
          <p:nvPr/>
        </p:nvSpPr>
        <p:spPr>
          <a:xfrm>
            <a:off x="7059168" y="1280160"/>
            <a:ext cx="146304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430"/>
                </a:solidFill>
              </a:rPr>
              <a:t>IT 現況檔</a:t>
            </a:r>
            <a:endParaRPr lang="en-US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472"/>
                </a:solidFill>
              </a:rPr>
              <a:t>tooling.yaml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26280" y="1920240"/>
            <a:ext cx="91" cy="155448"/>
          </a:xfrm>
          <a:prstGeom prst="line">
            <a:avLst/>
          </a:prstGeom>
          <a:noFill/>
          <a:ln w="15875">
            <a:solidFill>
              <a:srgbClr val="6B7A8F"/>
            </a:solidFill>
            <a:prstDash val="solid"/>
            <a:tailEnd type="triangle"/>
          </a:ln>
        </p:spPr>
      </p:sp>
      <p:sp>
        <p:nvSpPr>
          <p:cNvPr id="14" name="backend"/>
          <p:cNvSpPr/>
          <p:nvPr/>
        </p:nvSpPr>
        <p:spPr>
          <a:xfrm>
            <a:off x="548640" y="2075688"/>
            <a:ext cx="795528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B8C1CC"/>
            </a:solidFill>
            <a:prstDash val="solid"/>
          </a:ln>
        </p:spPr>
      </p:sp>
      <p:sp>
        <p:nvSpPr>
          <p:cNvPr id="15" name="backend-text"/>
          <p:cNvSpPr txBox="1"/>
          <p:nvPr/>
        </p:nvSpPr>
        <p:spPr>
          <a:xfrm>
            <a:off x="548640" y="2075688"/>
            <a:ext cx="79552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430"/>
                </a:solidFill>
              </a:rPr>
              <a:t>後端抽象：mock / live → 正規化資料模型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487168" y="2459736"/>
            <a:ext cx="91" cy="155448"/>
          </a:xfrm>
          <a:prstGeom prst="line">
            <a:avLst/>
          </a:prstGeom>
          <a:noFill/>
          <a:ln w="15875">
            <a:solidFill>
              <a:srgbClr val="6B7A8F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565392" y="2459736"/>
            <a:ext cx="91" cy="155448"/>
          </a:xfrm>
          <a:prstGeom prst="line">
            <a:avLst/>
          </a:prstGeom>
          <a:noFill/>
          <a:ln w="15875">
            <a:solidFill>
              <a:srgbClr val="6B7A8F"/>
            </a:solidFill>
            <a:prstDash val="solid"/>
            <a:tailEnd type="triangle"/>
          </a:ln>
        </p:spPr>
      </p:sp>
      <p:sp>
        <p:nvSpPr>
          <p:cNvPr id="18" name="core"/>
          <p:cNvSpPr/>
          <p:nvPr/>
        </p:nvSpPr>
        <p:spPr>
          <a:xfrm>
            <a:off x="548640" y="2615184"/>
            <a:ext cx="388620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5875">
            <a:solidFill>
              <a:srgbClr val="B8C1C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26791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B6472"/>
                </a:solidFill>
              </a:rPr>
              <a:t>確定性核心（不需 LLM）</a:t>
            </a:r>
            <a:endParaRPr lang="en-US" sz="1200" dirty="0"/>
          </a:p>
        </p:txBody>
      </p:sp>
      <p:sp>
        <p:nvSpPr>
          <p:cNvPr id="20" name="c1"/>
          <p:cNvSpPr/>
          <p:nvPr/>
        </p:nvSpPr>
        <p:spPr>
          <a:xfrm>
            <a:off x="685800" y="3017520"/>
            <a:ext cx="17373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B8C1CC"/>
            </a:solidFill>
            <a:prstDash val="solid"/>
          </a:ln>
        </p:spPr>
      </p:sp>
      <p:sp>
        <p:nvSpPr>
          <p:cNvPr id="21" name="c1-text"/>
          <p:cNvSpPr txBox="1"/>
          <p:nvPr/>
        </p:nvSpPr>
        <p:spPr>
          <a:xfrm>
            <a:off x="685800" y="3017520"/>
            <a:ext cx="173736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430"/>
                </a:solidFill>
              </a:rPr>
              <a:t>1 盤點與指紋</a:t>
            </a:r>
            <a:endParaRPr lang="en-US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472"/>
                </a:solidFill>
              </a:rPr>
              <a:t>環境指紋 JSON</a:t>
            </a:r>
            <a:endParaRPr lang="en-US" sz="1300" dirty="0"/>
          </a:p>
        </p:txBody>
      </p:sp>
      <p:sp>
        <p:nvSpPr>
          <p:cNvPr id="22" name="c2"/>
          <p:cNvSpPr/>
          <p:nvPr/>
        </p:nvSpPr>
        <p:spPr>
          <a:xfrm>
            <a:off x="2560320" y="3017520"/>
            <a:ext cx="1737360" cy="868680"/>
          </a:xfrm>
          <a:prstGeom prst="roundRect">
            <a:avLst>
              <a:gd name="adj" fmla="val 6316"/>
            </a:avLst>
          </a:prstGeom>
          <a:solidFill>
            <a:srgbClr val="E3F3F0"/>
          </a:solidFill>
          <a:ln w="25400">
            <a:solidFill>
              <a:srgbClr val="0E8F7E"/>
            </a:solidFill>
            <a:prstDash val="solid"/>
          </a:ln>
        </p:spPr>
      </p:sp>
      <p:sp>
        <p:nvSpPr>
          <p:cNvPr id="23" name="c2-text"/>
          <p:cNvSpPr txBox="1"/>
          <p:nvPr/>
        </p:nvSpPr>
        <p:spPr>
          <a:xfrm>
            <a:off x="2560320" y="3017520"/>
            <a:ext cx="173736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430"/>
                </a:solidFill>
              </a:rPr>
              <a:t>2 能力矩陣</a:t>
            </a:r>
            <a:endParaRPr lang="en-US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472"/>
                </a:solidFill>
              </a:rPr>
              <a:t>YAML 規則</a:t>
            </a:r>
            <a:endParaRPr lang="en-US" sz="1300" dirty="0"/>
          </a:p>
        </p:txBody>
      </p:sp>
      <p:sp>
        <p:nvSpPr>
          <p:cNvPr id="24" name="c3"/>
          <p:cNvSpPr/>
          <p:nvPr/>
        </p:nvSpPr>
        <p:spPr>
          <a:xfrm>
            <a:off x="2560320" y="4114800"/>
            <a:ext cx="17373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B8C1CC"/>
            </a:solidFill>
            <a:prstDash val="solid"/>
          </a:ln>
        </p:spPr>
      </p:sp>
      <p:sp>
        <p:nvSpPr>
          <p:cNvPr id="25" name="c3-text"/>
          <p:cNvSpPr txBox="1"/>
          <p:nvPr/>
        </p:nvSpPr>
        <p:spPr>
          <a:xfrm>
            <a:off x="2560320" y="4114800"/>
            <a:ext cx="173736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430"/>
                </a:solidFill>
              </a:rPr>
              <a:t>3 路徑＋評估</a:t>
            </a:r>
            <a:endParaRPr lang="en-US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472"/>
                </a:solidFill>
              </a:rPr>
              <a:t>修補順序・排序</a:t>
            </a:r>
            <a:endParaRPr lang="en-US" sz="1300" dirty="0"/>
          </a:p>
        </p:txBody>
      </p:sp>
      <p:sp>
        <p:nvSpPr>
          <p:cNvPr id="26" name="c4"/>
          <p:cNvSpPr/>
          <p:nvPr/>
        </p:nvSpPr>
        <p:spPr>
          <a:xfrm>
            <a:off x="685800" y="4114800"/>
            <a:ext cx="17373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B8C1CC"/>
            </a:solidFill>
            <a:prstDash val="solid"/>
          </a:ln>
        </p:spPr>
      </p:sp>
      <p:sp>
        <p:nvSpPr>
          <p:cNvPr id="27" name="c4-text"/>
          <p:cNvSpPr txBox="1"/>
          <p:nvPr/>
        </p:nvSpPr>
        <p:spPr>
          <a:xfrm>
            <a:off x="685800" y="4114800"/>
            <a:ext cx="173736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430"/>
                </a:solidFill>
              </a:rPr>
              <a:t>4 報告產出</a:t>
            </a:r>
            <a:endParaRPr lang="en-US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472"/>
                </a:solidFill>
              </a:rPr>
              <a:t>不經 LLM 改寫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423160" y="3451860"/>
            <a:ext cx="137160" cy="91"/>
          </a:xfrm>
          <a:prstGeom prst="line">
            <a:avLst/>
          </a:prstGeom>
          <a:noFill/>
          <a:ln w="15875">
            <a:solidFill>
              <a:srgbClr val="6B7A8F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429000" y="3886200"/>
            <a:ext cx="91" cy="228600"/>
          </a:xfrm>
          <a:prstGeom prst="line">
            <a:avLst/>
          </a:prstGeom>
          <a:noFill/>
          <a:ln w="15875">
            <a:solidFill>
              <a:srgbClr val="6B7A8F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 flipH="1">
            <a:off x="2423160" y="4549140"/>
            <a:ext cx="137160" cy="91"/>
          </a:xfrm>
          <a:prstGeom prst="line">
            <a:avLst/>
          </a:prstGeom>
          <a:noFill/>
          <a:ln w="15875">
            <a:solidFill>
              <a:srgbClr val="6B7A8F"/>
            </a:solidFill>
            <a:prstDash val="solid"/>
            <a:tailEnd type="triangle"/>
          </a:ln>
        </p:spPr>
      </p:sp>
      <p:sp>
        <p:nvSpPr>
          <p:cNvPr id="31" name="ai"/>
          <p:cNvSpPr/>
          <p:nvPr/>
        </p:nvSpPr>
        <p:spPr>
          <a:xfrm>
            <a:off x="4617720" y="2615184"/>
            <a:ext cx="388620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5875">
            <a:solidFill>
              <a:srgbClr val="B8C1C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754880" y="26791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B6472"/>
                </a:solidFill>
              </a:rPr>
              <a:t>AI 層（選用，只能唯讀）</a:t>
            </a:r>
            <a:endParaRPr lang="en-US" sz="1200" dirty="0"/>
          </a:p>
        </p:txBody>
      </p:sp>
      <p:sp>
        <p:nvSpPr>
          <p:cNvPr id="33" name="a1"/>
          <p:cNvSpPr/>
          <p:nvPr/>
        </p:nvSpPr>
        <p:spPr>
          <a:xfrm>
            <a:off x="6629400" y="3017520"/>
            <a:ext cx="1737360" cy="868680"/>
          </a:xfrm>
          <a:prstGeom prst="roundRect">
            <a:avLst>
              <a:gd name="adj" fmla="val 6316"/>
            </a:avLst>
          </a:prstGeom>
          <a:solidFill>
            <a:srgbClr val="E6EEF7"/>
          </a:solidFill>
          <a:ln w="12700">
            <a:solidFill>
              <a:srgbClr val="3B6EA8"/>
            </a:solidFill>
            <a:prstDash val="solid"/>
          </a:ln>
        </p:spPr>
      </p:sp>
      <p:sp>
        <p:nvSpPr>
          <p:cNvPr id="34" name="a1-text"/>
          <p:cNvSpPr txBox="1"/>
          <p:nvPr/>
        </p:nvSpPr>
        <p:spPr>
          <a:xfrm>
            <a:off x="6629400" y="3017520"/>
            <a:ext cx="173736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430"/>
                </a:solidFill>
              </a:rPr>
              <a:t>唯讀 MCP ×4</a:t>
            </a:r>
            <a:endParaRPr lang="en-US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472"/>
                </a:solidFill>
              </a:rPr>
              <a:t>18 個工具</a:t>
            </a:r>
            <a:endParaRPr lang="en-US" sz="1300" dirty="0"/>
          </a:p>
        </p:txBody>
      </p:sp>
      <p:sp>
        <p:nvSpPr>
          <p:cNvPr id="35" name="a2"/>
          <p:cNvSpPr/>
          <p:nvPr/>
        </p:nvSpPr>
        <p:spPr>
          <a:xfrm>
            <a:off x="4754880" y="3017520"/>
            <a:ext cx="1737360" cy="868680"/>
          </a:xfrm>
          <a:prstGeom prst="roundRect">
            <a:avLst>
              <a:gd name="adj" fmla="val 6316"/>
            </a:avLst>
          </a:prstGeom>
          <a:solidFill>
            <a:srgbClr val="E6EEF7"/>
          </a:solidFill>
          <a:ln w="12700">
            <a:solidFill>
              <a:srgbClr val="3B6EA8"/>
            </a:solidFill>
            <a:prstDash val="solid"/>
          </a:ln>
        </p:spPr>
      </p:sp>
      <p:sp>
        <p:nvSpPr>
          <p:cNvPr id="36" name="a2-text"/>
          <p:cNvSpPr txBox="1"/>
          <p:nvPr/>
        </p:nvSpPr>
        <p:spPr>
          <a:xfrm>
            <a:off x="4754880" y="3017520"/>
            <a:ext cx="173736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430"/>
                </a:solidFill>
              </a:rPr>
              <a:t>Hooks 防線</a:t>
            </a:r>
            <a:endParaRPr lang="en-US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472"/>
                </a:solidFill>
              </a:rPr>
              <a:t>放行・稽核・注入</a:t>
            </a:r>
            <a:endParaRPr lang="en-US" sz="1300" dirty="0"/>
          </a:p>
        </p:txBody>
      </p:sp>
      <p:sp>
        <p:nvSpPr>
          <p:cNvPr id="37" name="a3"/>
          <p:cNvSpPr/>
          <p:nvPr/>
        </p:nvSpPr>
        <p:spPr>
          <a:xfrm>
            <a:off x="4754880" y="4114800"/>
            <a:ext cx="1737360" cy="868680"/>
          </a:xfrm>
          <a:prstGeom prst="roundRect">
            <a:avLst>
              <a:gd name="adj" fmla="val 6316"/>
            </a:avLst>
          </a:prstGeom>
          <a:solidFill>
            <a:srgbClr val="E6EEF7"/>
          </a:solidFill>
          <a:ln w="12700">
            <a:solidFill>
              <a:srgbClr val="3B6EA8"/>
            </a:solidFill>
            <a:prstDash val="solid"/>
          </a:ln>
        </p:spPr>
      </p:sp>
      <p:sp>
        <p:nvSpPr>
          <p:cNvPr id="38" name="a3-text"/>
          <p:cNvSpPr txBox="1"/>
          <p:nvPr/>
        </p:nvSpPr>
        <p:spPr>
          <a:xfrm>
            <a:off x="4754880" y="4114800"/>
            <a:ext cx="173736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430"/>
                </a:solidFill>
              </a:rPr>
              <a:t>Orchestrator</a:t>
            </a:r>
            <a:endParaRPr lang="en-US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472"/>
                </a:solidFill>
              </a:rPr>
              <a:t>子代理 ×3</a:t>
            </a:r>
            <a:endParaRPr lang="en-US" sz="1300" dirty="0"/>
          </a:p>
        </p:txBody>
      </p:sp>
      <p:sp>
        <p:nvSpPr>
          <p:cNvPr id="39" name="a4"/>
          <p:cNvSpPr/>
          <p:nvPr/>
        </p:nvSpPr>
        <p:spPr>
          <a:xfrm>
            <a:off x="6629400" y="4114800"/>
            <a:ext cx="1737360" cy="868680"/>
          </a:xfrm>
          <a:prstGeom prst="roundRect">
            <a:avLst>
              <a:gd name="adj" fmla="val 6316"/>
            </a:avLst>
          </a:prstGeom>
          <a:solidFill>
            <a:srgbClr val="E6EEF7"/>
          </a:solidFill>
          <a:ln w="12700">
            <a:solidFill>
              <a:srgbClr val="3B6EA8"/>
            </a:solidFill>
            <a:prstDash val="solid"/>
          </a:ln>
        </p:spPr>
      </p:sp>
      <p:sp>
        <p:nvSpPr>
          <p:cNvPr id="40" name="a4-text"/>
          <p:cNvSpPr txBox="1"/>
          <p:nvPr/>
        </p:nvSpPr>
        <p:spPr>
          <a:xfrm>
            <a:off x="6629400" y="4114800"/>
            <a:ext cx="173736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430"/>
                </a:solidFill>
              </a:rPr>
              <a:t>地端模型</a:t>
            </a:r>
            <a:endParaRPr lang="en-US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472"/>
                </a:solidFill>
              </a:rPr>
              <a:t>LiteLLM → vLLM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 flipH="1">
            <a:off x="6492240" y="3451860"/>
            <a:ext cx="137160" cy="91"/>
          </a:xfrm>
          <a:prstGeom prst="line">
            <a:avLst/>
          </a:prstGeom>
          <a:noFill/>
          <a:ln w="15875">
            <a:solidFill>
              <a:srgbClr val="6B7A8F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5623560" y="3886200"/>
            <a:ext cx="91" cy="228600"/>
          </a:xfrm>
          <a:prstGeom prst="line">
            <a:avLst/>
          </a:prstGeom>
          <a:noFill/>
          <a:ln w="15875">
            <a:solidFill>
              <a:srgbClr val="6B7A8F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6492240" y="4549140"/>
            <a:ext cx="137160" cy="91"/>
          </a:xfrm>
          <a:prstGeom prst="line">
            <a:avLst/>
          </a:prstGeom>
          <a:noFill/>
          <a:ln w="15875">
            <a:solidFill>
              <a:srgbClr val="6B7A8F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4297680" y="3451860"/>
            <a:ext cx="228600" cy="91"/>
          </a:xfrm>
          <a:prstGeom prst="line">
            <a:avLst/>
          </a:prstGeom>
          <a:noFill/>
          <a:ln w="25400">
            <a:solidFill>
              <a:srgbClr val="0E8F7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526280" y="3451860"/>
            <a:ext cx="91" cy="1097280"/>
          </a:xfrm>
          <a:prstGeom prst="line">
            <a:avLst/>
          </a:prstGeom>
          <a:noFill/>
          <a:ln w="25400">
            <a:solidFill>
              <a:srgbClr val="0E8F7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526280" y="4549140"/>
            <a:ext cx="228600" cy="91"/>
          </a:xfrm>
          <a:prstGeom prst="line">
            <a:avLst/>
          </a:prstGeom>
          <a:noFill/>
          <a:ln w="25400">
            <a:solidFill>
              <a:srgbClr val="0E8F7E"/>
            </a:solidFill>
            <a:prstDash val="solid"/>
            <a:tailEnd type="triangle"/>
          </a:ln>
        </p:spPr>
      </p:sp>
      <p:sp>
        <p:nvSpPr>
          <p:cNvPr id="47" name="review"/>
          <p:cNvSpPr/>
          <p:nvPr/>
        </p:nvSpPr>
        <p:spPr>
          <a:xfrm>
            <a:off x="8778240" y="1280160"/>
            <a:ext cx="2862072" cy="4983480"/>
          </a:xfrm>
          <a:prstGeom prst="roundRect">
            <a:avLst>
              <a:gd name="adj" fmla="val 255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942832" y="1371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</a:rPr>
              <a:t>Review 與治理</a:t>
            </a:r>
            <a:endParaRPr lang="en-US" sz="1400" dirty="0"/>
          </a:p>
        </p:txBody>
      </p:sp>
      <p:sp>
        <p:nvSpPr>
          <p:cNvPr id="49" name="r1"/>
          <p:cNvSpPr/>
          <p:nvPr/>
        </p:nvSpPr>
        <p:spPr>
          <a:xfrm>
            <a:off x="8942832" y="1783080"/>
            <a:ext cx="2532888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B8C1CC"/>
            </a:solidFill>
            <a:prstDash val="solid"/>
          </a:ln>
        </p:spPr>
      </p:sp>
      <p:sp>
        <p:nvSpPr>
          <p:cNvPr id="50" name="r1-text"/>
          <p:cNvSpPr txBox="1"/>
          <p:nvPr/>
        </p:nvSpPr>
        <p:spPr>
          <a:xfrm>
            <a:off x="8942832" y="1783080"/>
            <a:ext cx="2532888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430"/>
                </a:solidFill>
              </a:rPr>
              <a:t>規則與 Skill 審查</a:t>
            </a:r>
            <a:endParaRPr lang="en-US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472"/>
                </a:solidFill>
              </a:rPr>
              <a:t>PR 審核・安全掃描</a:t>
            </a:r>
            <a:endParaRPr lang="en-US" sz="1300" dirty="0"/>
          </a:p>
        </p:txBody>
      </p:sp>
      <p:sp>
        <p:nvSpPr>
          <p:cNvPr id="51" name="r2"/>
          <p:cNvSpPr/>
          <p:nvPr/>
        </p:nvSpPr>
        <p:spPr>
          <a:xfrm>
            <a:off x="8942832" y="2816352"/>
            <a:ext cx="2532888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B8C1CC"/>
            </a:solidFill>
            <a:prstDash val="solid"/>
          </a:ln>
        </p:spPr>
      </p:sp>
      <p:sp>
        <p:nvSpPr>
          <p:cNvPr id="52" name="r2-text"/>
          <p:cNvSpPr txBox="1"/>
          <p:nvPr/>
        </p:nvSpPr>
        <p:spPr>
          <a:xfrm>
            <a:off x="8942832" y="2816352"/>
            <a:ext cx="2532888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430"/>
                </a:solidFill>
              </a:rPr>
              <a:t>驗證與評測</a:t>
            </a:r>
            <a:endParaRPr lang="en-US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472"/>
                </a:solidFill>
              </a:rPr>
              <a:t>V1–V11・模型評測集</a:t>
            </a:r>
            <a:endParaRPr lang="en-US" sz="1300" dirty="0"/>
          </a:p>
        </p:txBody>
      </p:sp>
      <p:sp>
        <p:nvSpPr>
          <p:cNvPr id="53" name="r3"/>
          <p:cNvSpPr/>
          <p:nvPr/>
        </p:nvSpPr>
        <p:spPr>
          <a:xfrm>
            <a:off x="8942832" y="3849624"/>
            <a:ext cx="2532888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B8C1CC"/>
            </a:solidFill>
            <a:prstDash val="solid"/>
          </a:ln>
        </p:spPr>
      </p:sp>
      <p:sp>
        <p:nvSpPr>
          <p:cNvPr id="54" name="r3-text"/>
          <p:cNvSpPr txBox="1"/>
          <p:nvPr/>
        </p:nvSpPr>
        <p:spPr>
          <a:xfrm>
            <a:off x="8942832" y="3849624"/>
            <a:ext cx="2532888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430"/>
                </a:solidFill>
              </a:rPr>
              <a:t>稽核鏈</a:t>
            </a:r>
            <a:endParaRPr lang="en-US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472"/>
                </a:solidFill>
              </a:rPr>
              <a:t>hash-chain 防竄改</a:t>
            </a:r>
            <a:endParaRPr lang="en-US" sz="1300" dirty="0"/>
          </a:p>
        </p:txBody>
      </p:sp>
      <p:sp>
        <p:nvSpPr>
          <p:cNvPr id="55" name="r4"/>
          <p:cNvSpPr/>
          <p:nvPr/>
        </p:nvSpPr>
        <p:spPr>
          <a:xfrm>
            <a:off x="8942832" y="4882896"/>
            <a:ext cx="2532888" cy="868680"/>
          </a:xfrm>
          <a:prstGeom prst="roundRect">
            <a:avLst>
              <a:gd name="adj" fmla="val 6316"/>
            </a:avLst>
          </a:prstGeom>
          <a:solidFill>
            <a:srgbClr val="E3F3F0"/>
          </a:solidFill>
          <a:ln w="25400">
            <a:solidFill>
              <a:srgbClr val="0E8F7E"/>
            </a:solidFill>
            <a:prstDash val="solid"/>
          </a:ln>
        </p:spPr>
      </p:sp>
      <p:sp>
        <p:nvSpPr>
          <p:cNvPr id="56" name="r4-text"/>
          <p:cNvSpPr txBox="1"/>
          <p:nvPr/>
        </p:nvSpPr>
        <p:spPr>
          <a:xfrm>
            <a:off x="8942832" y="4882896"/>
            <a:ext cx="2532888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430"/>
                </a:solidFill>
              </a:rPr>
              <a:t>人工審核閘門</a:t>
            </a:r>
            <a:endParaRPr lang="en-US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472"/>
                </a:solidFill>
              </a:rPr>
              <a:t>L0 自動 → L3 雙人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8503920" y="3877056"/>
            <a:ext cx="274320" cy="91"/>
          </a:xfrm>
          <a:prstGeom prst="line">
            <a:avLst/>
          </a:prstGeom>
          <a:noFill/>
          <a:ln w="15875">
            <a:solidFill>
              <a:srgbClr val="6B7A8F"/>
            </a:solidFill>
            <a:prstDash val="solid"/>
            <a:tailEnd type="triangle"/>
          </a:ln>
        </p:spPr>
      </p:sp>
      <p:sp>
        <p:nvSpPr>
          <p:cNvPr id="58" name="future"/>
          <p:cNvSpPr/>
          <p:nvPr/>
        </p:nvSpPr>
        <p:spPr>
          <a:xfrm>
            <a:off x="548640" y="5349240"/>
            <a:ext cx="7955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B8C1CC"/>
            </a:solidFill>
            <a:prstDash val="dash"/>
          </a:ln>
        </p:spPr>
      </p:sp>
      <p:sp>
        <p:nvSpPr>
          <p:cNvPr id="59" name="Text 57"/>
          <p:cNvSpPr txBox="1"/>
          <p:nvPr/>
        </p:nvSpPr>
        <p:spPr>
          <a:xfrm>
            <a:off x="685800" y="544068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472"/>
                </a:solidFill>
              </a:rPr>
              <a:t>Phase 2–3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5B6472"/>
                </a:solidFill>
              </a:rPr>
              <a:t>規劃中</a:t>
            </a:r>
            <a:endParaRPr lang="en-US" sz="1200" dirty="0"/>
          </a:p>
        </p:txBody>
      </p:sp>
      <p:sp>
        <p:nvSpPr>
          <p:cNvPr id="60" name="f-0"/>
          <p:cNvSpPr/>
          <p:nvPr/>
        </p:nvSpPr>
        <p:spPr>
          <a:xfrm>
            <a:off x="1920240" y="5486400"/>
            <a:ext cx="150876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B8C1CC"/>
            </a:solidFill>
            <a:prstDash val="dash"/>
          </a:ln>
        </p:spPr>
      </p:sp>
      <p:sp>
        <p:nvSpPr>
          <p:cNvPr id="61" name="f-0-text"/>
          <p:cNvSpPr txBox="1"/>
          <p:nvPr/>
        </p:nvSpPr>
        <p:spPr>
          <a:xfrm>
            <a:off x="1920240" y="5486400"/>
            <a:ext cx="150876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B2430"/>
                </a:solidFill>
              </a:rPr>
              <a:t>SIEM 偵測分流</a:t>
            </a:r>
            <a:endParaRPr lang="en-US" sz="1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B6472"/>
                </a:solidFill>
              </a:rPr>
              <a:t>MDI・Sigma</a:t>
            </a:r>
            <a:endParaRPr lang="en-US" sz="1200" dirty="0"/>
          </a:p>
        </p:txBody>
      </p:sp>
      <p:sp>
        <p:nvSpPr>
          <p:cNvPr id="62" name="f-1"/>
          <p:cNvSpPr/>
          <p:nvPr/>
        </p:nvSpPr>
        <p:spPr>
          <a:xfrm>
            <a:off x="3566160" y="5486400"/>
            <a:ext cx="150876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B8C1CC"/>
            </a:solidFill>
            <a:prstDash val="dash"/>
          </a:ln>
        </p:spPr>
      </p:sp>
      <p:sp>
        <p:nvSpPr>
          <p:cNvPr id="63" name="f-1-text"/>
          <p:cNvSpPr txBox="1"/>
          <p:nvPr/>
        </p:nvSpPr>
        <p:spPr>
          <a:xfrm>
            <a:off x="3566160" y="5486400"/>
            <a:ext cx="150876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B2430"/>
                </a:solidFill>
              </a:rPr>
              <a:t>偵測規則庫</a:t>
            </a:r>
            <a:endParaRPr lang="en-US" sz="1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B6472"/>
                </a:solidFill>
              </a:rPr>
              <a:t>Git PR・CI</a:t>
            </a:r>
            <a:endParaRPr lang="en-US" sz="1200" dirty="0"/>
          </a:p>
        </p:txBody>
      </p:sp>
      <p:sp>
        <p:nvSpPr>
          <p:cNvPr id="64" name="f-2"/>
          <p:cNvSpPr/>
          <p:nvPr/>
        </p:nvSpPr>
        <p:spPr>
          <a:xfrm>
            <a:off x="5212080" y="5486400"/>
            <a:ext cx="150876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B8C1CC"/>
            </a:solidFill>
            <a:prstDash val="dash"/>
          </a:ln>
        </p:spPr>
      </p:sp>
      <p:sp>
        <p:nvSpPr>
          <p:cNvPr id="65" name="f-2-text"/>
          <p:cNvSpPr txBox="1"/>
          <p:nvPr/>
        </p:nvSpPr>
        <p:spPr>
          <a:xfrm>
            <a:off x="5212080" y="5486400"/>
            <a:ext cx="150876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B2430"/>
                </a:solidFill>
              </a:rPr>
              <a:t>持續驗證</a:t>
            </a:r>
            <a:endParaRPr lang="en-US" sz="1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B6472"/>
                </a:solidFill>
              </a:rPr>
              <a:t>BAS・紫隊</a:t>
            </a:r>
            <a:endParaRPr lang="en-US" sz="1200" dirty="0"/>
          </a:p>
        </p:txBody>
      </p:sp>
      <p:sp>
        <p:nvSpPr>
          <p:cNvPr id="66" name="f-3"/>
          <p:cNvSpPr/>
          <p:nvPr/>
        </p:nvSpPr>
        <p:spPr>
          <a:xfrm>
            <a:off x="6858000" y="5486400"/>
            <a:ext cx="150876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B8C1CC"/>
            </a:solidFill>
            <a:prstDash val="dash"/>
          </a:ln>
        </p:spPr>
      </p:sp>
      <p:sp>
        <p:nvSpPr>
          <p:cNvPr id="67" name="f-3-text"/>
          <p:cNvSpPr txBox="1"/>
          <p:nvPr/>
        </p:nvSpPr>
        <p:spPr>
          <a:xfrm>
            <a:off x="6858000" y="5486400"/>
            <a:ext cx="150876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B2430"/>
                </a:solidFill>
              </a:rPr>
              <a:t>SOAR 執行</a:t>
            </a:r>
            <a:endParaRPr lang="en-US" sz="1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B6472"/>
                </a:solidFill>
              </a:rPr>
              <a:t>核准後・可回滾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 flipH="1">
            <a:off x="8641080" y="5317236"/>
            <a:ext cx="301752" cy="91"/>
          </a:xfrm>
          <a:prstGeom prst="line">
            <a:avLst/>
          </a:prstGeom>
          <a:noFill/>
          <a:ln w="15875">
            <a:solidFill>
              <a:srgbClr val="6B7A8F"/>
            </a:solidFill>
            <a:prstDash val="dash"/>
          </a:ln>
        </p:spPr>
      </p:sp>
      <p:sp>
        <p:nvSpPr>
          <p:cNvPr id="69" name="Shape 67"/>
          <p:cNvSpPr/>
          <p:nvPr/>
        </p:nvSpPr>
        <p:spPr>
          <a:xfrm>
            <a:off x="8641080" y="5317236"/>
            <a:ext cx="91" cy="489204"/>
          </a:xfrm>
          <a:prstGeom prst="line">
            <a:avLst/>
          </a:prstGeom>
          <a:noFill/>
          <a:ln w="15875">
            <a:solidFill>
              <a:srgbClr val="6B7A8F"/>
            </a:solidFill>
            <a:prstDash val="dash"/>
          </a:ln>
        </p:spPr>
      </p:sp>
      <p:sp>
        <p:nvSpPr>
          <p:cNvPr id="70" name="Shape 68"/>
          <p:cNvSpPr/>
          <p:nvPr/>
        </p:nvSpPr>
        <p:spPr>
          <a:xfrm flipH="1">
            <a:off x="8366760" y="5806440"/>
            <a:ext cx="274320" cy="91"/>
          </a:xfrm>
          <a:prstGeom prst="line">
            <a:avLst/>
          </a:prstGeom>
          <a:noFill/>
          <a:ln w="15875">
            <a:solidFill>
              <a:srgbClr val="6B7A8F"/>
            </a:solidFill>
            <a:prstDash val="dash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一次 idsec run：五步，每步寫入稽核鏈</a:t>
            </a:r>
            <a:endParaRPr lang="en-US" sz="3000" dirty="0"/>
          </a:p>
        </p:txBody>
      </p:sp>
      <p:sp>
        <p:nvSpPr>
          <p:cNvPr id="3" name="num-1"/>
          <p:cNvSpPr/>
          <p:nvPr/>
        </p:nvSpPr>
        <p:spPr>
          <a:xfrm>
            <a:off x="548640" y="1463040"/>
            <a:ext cx="548640" cy="548640"/>
          </a:xfrm>
          <a:prstGeom prst="ellipse">
            <a:avLst/>
          </a:prstGeom>
          <a:solidFill>
            <a:srgbClr val="0F2A3A"/>
          </a:solidFill>
          <a:ln w="12700">
            <a:solidFill>
              <a:srgbClr val="0F2A3A"/>
            </a:solidFill>
            <a:prstDash val="solid"/>
          </a:ln>
        </p:spPr>
      </p:sp>
      <p:sp>
        <p:nvSpPr>
          <p:cNvPr id="4" name="num-1-text"/>
          <p:cNvSpPr txBox="1"/>
          <p:nvPr/>
        </p:nvSpPr>
        <p:spPr>
          <a:xfrm>
            <a:off x="54864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188720" y="1737360"/>
            <a:ext cx="1536192" cy="91"/>
          </a:xfrm>
          <a:prstGeom prst="line">
            <a:avLst/>
          </a:prstGeom>
          <a:noFill/>
          <a:ln w="15875">
            <a:solidFill>
              <a:srgbClr val="B8C1CC"/>
            </a:solidFill>
            <a:prstDash val="solid"/>
            <a:tailEnd type="triangle"/>
          </a:ln>
        </p:spPr>
      </p:sp>
      <p:sp>
        <p:nvSpPr>
          <p:cNvPr id="6" name="Text 4"/>
          <p:cNvSpPr txBox="1"/>
          <p:nvPr/>
        </p:nvSpPr>
        <p:spPr>
          <a:xfrm>
            <a:off x="548640" y="21945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430"/>
                </a:solidFill>
              </a:rPr>
              <a:t>盤點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5176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</a:rPr>
              <a:t>讀取 AD 與 Entra 現況</a:t>
            </a:r>
            <a:endParaRPr lang="en-US" sz="1400" dirty="0"/>
          </a:p>
        </p:txBody>
      </p:sp>
      <p:sp>
        <p:nvSpPr>
          <p:cNvPr id="8" name="out-0"/>
          <p:cNvSpPr/>
          <p:nvPr/>
        </p:nvSpPr>
        <p:spPr>
          <a:xfrm>
            <a:off x="548640" y="347472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9" name="out-0-text"/>
          <p:cNvSpPr txBox="1"/>
          <p:nvPr/>
        </p:nvSpPr>
        <p:spPr>
          <a:xfrm>
            <a:off x="548640" y="34747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430"/>
                </a:solidFill>
              </a:rPr>
              <a:t>fingerprint.json</a:t>
            </a:r>
            <a:endParaRPr lang="en-US" sz="1100" dirty="0"/>
          </a:p>
        </p:txBody>
      </p:sp>
      <p:sp>
        <p:nvSpPr>
          <p:cNvPr id="10" name="num-2"/>
          <p:cNvSpPr/>
          <p:nvPr/>
        </p:nvSpPr>
        <p:spPr>
          <a:xfrm>
            <a:off x="2816352" y="1463040"/>
            <a:ext cx="548640" cy="548640"/>
          </a:xfrm>
          <a:prstGeom prst="ellipse">
            <a:avLst/>
          </a:prstGeom>
          <a:solidFill>
            <a:srgbClr val="0E8F7E"/>
          </a:solidFill>
          <a:ln w="12700">
            <a:solidFill>
              <a:srgbClr val="0E8F7E"/>
            </a:solidFill>
            <a:prstDash val="solid"/>
          </a:ln>
        </p:spPr>
      </p:sp>
      <p:sp>
        <p:nvSpPr>
          <p:cNvPr id="11" name="num-2-text"/>
          <p:cNvSpPr txBox="1"/>
          <p:nvPr/>
        </p:nvSpPr>
        <p:spPr>
          <a:xfrm>
            <a:off x="2816352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456432" y="1737360"/>
            <a:ext cx="1536192" cy="91"/>
          </a:xfrm>
          <a:prstGeom prst="line">
            <a:avLst/>
          </a:prstGeom>
          <a:noFill/>
          <a:ln w="15875">
            <a:solidFill>
              <a:srgbClr val="B8C1CC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2816352" y="21945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430"/>
                </a:solidFill>
              </a:rPr>
              <a:t>能力矩陣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2816352" y="265176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</a:rPr>
              <a:t>判定 Profile、模組、缺口</a:t>
            </a:r>
            <a:endParaRPr lang="en-US" sz="1400" dirty="0"/>
          </a:p>
        </p:txBody>
      </p:sp>
      <p:sp>
        <p:nvSpPr>
          <p:cNvPr id="15" name="out-1"/>
          <p:cNvSpPr/>
          <p:nvPr/>
        </p:nvSpPr>
        <p:spPr>
          <a:xfrm>
            <a:off x="2816352" y="347472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out-1-text"/>
          <p:cNvSpPr txBox="1"/>
          <p:nvPr/>
        </p:nvSpPr>
        <p:spPr>
          <a:xfrm>
            <a:off x="2816352" y="34747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430"/>
                </a:solidFill>
              </a:rPr>
              <a:t>capability.json</a:t>
            </a:r>
            <a:endParaRPr lang="en-US" sz="1100" dirty="0"/>
          </a:p>
        </p:txBody>
      </p:sp>
      <p:sp>
        <p:nvSpPr>
          <p:cNvPr id="17" name="num-3"/>
          <p:cNvSpPr/>
          <p:nvPr/>
        </p:nvSpPr>
        <p:spPr>
          <a:xfrm>
            <a:off x="5084064" y="1463040"/>
            <a:ext cx="548640" cy="548640"/>
          </a:xfrm>
          <a:prstGeom prst="ellipse">
            <a:avLst/>
          </a:prstGeom>
          <a:solidFill>
            <a:srgbClr val="0F2A3A"/>
          </a:solidFill>
          <a:ln w="12700">
            <a:solidFill>
              <a:srgbClr val="0F2A3A"/>
            </a:solidFill>
            <a:prstDash val="solid"/>
          </a:ln>
        </p:spPr>
      </p:sp>
      <p:sp>
        <p:nvSpPr>
          <p:cNvPr id="18" name="num-3-text"/>
          <p:cNvSpPr txBox="1"/>
          <p:nvPr/>
        </p:nvSpPr>
        <p:spPr>
          <a:xfrm>
            <a:off x="5084064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724144" y="1737360"/>
            <a:ext cx="1536192" cy="91"/>
          </a:xfrm>
          <a:prstGeom prst="line">
            <a:avLst/>
          </a:prstGeom>
          <a:noFill/>
          <a:ln w="15875">
            <a:solidFill>
              <a:srgbClr val="B8C1CC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5084064" y="21945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430"/>
                </a:solidFill>
              </a:rPr>
              <a:t>攻擊路徑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5084064" y="265176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</a:rPr>
              <a:t>通往 Tier 0 與修補順序</a:t>
            </a:r>
            <a:endParaRPr lang="en-US" sz="1400" dirty="0"/>
          </a:p>
        </p:txBody>
      </p:sp>
      <p:sp>
        <p:nvSpPr>
          <p:cNvPr id="22" name="out-2"/>
          <p:cNvSpPr/>
          <p:nvPr/>
        </p:nvSpPr>
        <p:spPr>
          <a:xfrm>
            <a:off x="5084064" y="347472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3" name="out-2-text"/>
          <p:cNvSpPr txBox="1"/>
          <p:nvPr/>
        </p:nvSpPr>
        <p:spPr>
          <a:xfrm>
            <a:off x="5084064" y="34747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430"/>
                </a:solidFill>
              </a:rPr>
              <a:t>paths.json</a:t>
            </a:r>
            <a:endParaRPr lang="en-US" sz="1100" dirty="0"/>
          </a:p>
        </p:txBody>
      </p:sp>
      <p:sp>
        <p:nvSpPr>
          <p:cNvPr id="24" name="num-4"/>
          <p:cNvSpPr/>
          <p:nvPr/>
        </p:nvSpPr>
        <p:spPr>
          <a:xfrm>
            <a:off x="7351776" y="1463040"/>
            <a:ext cx="548640" cy="548640"/>
          </a:xfrm>
          <a:prstGeom prst="ellipse">
            <a:avLst/>
          </a:prstGeom>
          <a:solidFill>
            <a:srgbClr val="0F2A3A"/>
          </a:solidFill>
          <a:ln w="12700">
            <a:solidFill>
              <a:srgbClr val="0F2A3A"/>
            </a:solidFill>
            <a:prstDash val="solid"/>
          </a:ln>
        </p:spPr>
      </p:sp>
      <p:sp>
        <p:nvSpPr>
          <p:cNvPr id="25" name="num-4-text"/>
          <p:cNvSpPr txBox="1"/>
          <p:nvPr/>
        </p:nvSpPr>
        <p:spPr>
          <a:xfrm>
            <a:off x="7351776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7991856" y="1737360"/>
            <a:ext cx="1536192" cy="91"/>
          </a:xfrm>
          <a:prstGeom prst="line">
            <a:avLst/>
          </a:prstGeom>
          <a:noFill/>
          <a:ln w="15875">
            <a:solidFill>
              <a:srgbClr val="B8C1CC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7351776" y="21945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430"/>
                </a:solidFill>
              </a:rPr>
              <a:t>評估排序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7351776" y="265176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</a:rPr>
              <a:t>解析 PingCastle 並加權</a:t>
            </a:r>
            <a:endParaRPr lang="en-US" sz="1400" dirty="0"/>
          </a:p>
        </p:txBody>
      </p:sp>
      <p:sp>
        <p:nvSpPr>
          <p:cNvPr id="29" name="out-3"/>
          <p:cNvSpPr/>
          <p:nvPr/>
        </p:nvSpPr>
        <p:spPr>
          <a:xfrm>
            <a:off x="7351776" y="347472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30" name="out-3-text"/>
          <p:cNvSpPr txBox="1"/>
          <p:nvPr/>
        </p:nvSpPr>
        <p:spPr>
          <a:xfrm>
            <a:off x="7351776" y="34747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430"/>
                </a:solidFill>
              </a:rPr>
              <a:t>findings.json</a:t>
            </a:r>
            <a:endParaRPr lang="en-US" sz="1100" dirty="0"/>
          </a:p>
        </p:txBody>
      </p:sp>
      <p:sp>
        <p:nvSpPr>
          <p:cNvPr id="31" name="num-5"/>
          <p:cNvSpPr/>
          <p:nvPr/>
        </p:nvSpPr>
        <p:spPr>
          <a:xfrm>
            <a:off x="9619488" y="1463040"/>
            <a:ext cx="548640" cy="548640"/>
          </a:xfrm>
          <a:prstGeom prst="ellipse">
            <a:avLst/>
          </a:prstGeom>
          <a:solidFill>
            <a:srgbClr val="0F2A3A"/>
          </a:solidFill>
          <a:ln w="12700">
            <a:solidFill>
              <a:srgbClr val="0F2A3A"/>
            </a:solidFill>
            <a:prstDash val="solid"/>
          </a:ln>
        </p:spPr>
      </p:sp>
      <p:sp>
        <p:nvSpPr>
          <p:cNvPr id="32" name="num-5-text"/>
          <p:cNvSpPr txBox="1"/>
          <p:nvPr/>
        </p:nvSpPr>
        <p:spPr>
          <a:xfrm>
            <a:off x="9619488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9619488" y="21945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430"/>
                </a:solidFill>
              </a:rPr>
              <a:t>報告</a:t>
            </a:r>
            <a:endParaRPr lang="en-US" sz="2000" dirty="0"/>
          </a:p>
        </p:txBody>
      </p:sp>
      <p:sp>
        <p:nvSpPr>
          <p:cNvPr id="34" name="Text 32"/>
          <p:cNvSpPr txBox="1"/>
          <p:nvPr/>
        </p:nvSpPr>
        <p:spPr>
          <a:xfrm>
            <a:off x="9619488" y="265176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</a:rPr>
              <a:t>確定性 Markdown 報告</a:t>
            </a:r>
            <a:endParaRPr lang="en-US" sz="1400" dirty="0"/>
          </a:p>
        </p:txBody>
      </p:sp>
      <p:sp>
        <p:nvSpPr>
          <p:cNvPr id="35" name="out-4"/>
          <p:cNvSpPr/>
          <p:nvPr/>
        </p:nvSpPr>
        <p:spPr>
          <a:xfrm>
            <a:off x="9619488" y="347472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36" name="out-4-text"/>
          <p:cNvSpPr txBox="1"/>
          <p:nvPr/>
        </p:nvSpPr>
        <p:spPr>
          <a:xfrm>
            <a:off x="9619488" y="34747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430"/>
                </a:solidFill>
              </a:rPr>
              <a:t>report.md</a:t>
            </a:r>
            <a:endParaRPr lang="en-US" sz="1100" dirty="0"/>
          </a:p>
        </p:txBody>
      </p:sp>
      <p:sp>
        <p:nvSpPr>
          <p:cNvPr id="37" name="rules"/>
          <p:cNvSpPr/>
          <p:nvPr/>
        </p:nvSpPr>
        <p:spPr>
          <a:xfrm>
            <a:off x="548640" y="4206240"/>
            <a:ext cx="11091672" cy="1920240"/>
          </a:xfrm>
          <a:prstGeom prst="roundRect">
            <a:avLst>
              <a:gd name="adj" fmla="val 381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22960" y="4389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</a:rPr>
              <a:t>執行規則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" y="480060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</a:rPr>
              <a:t>模組沒被能力矩陣啟用就跳過，例如無 Entra 租戶時不收集 Entra 路徑，也不掛載 entra-graph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</a:rPr>
              <a:t>每一步完成即寫入 hash-chain 稽核鏈（pipeline.discovery.completed、paths.completed …）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</a:rPr>
              <a:t>全部為確定性計算：同一份輸入永遠得到同一份輸出，模擬資料以固定種子產生、可重現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20116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6"/>
                </a:solidFill>
              </a:rPr>
              <a:t>01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30175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規則機制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0233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FC3D0"/>
                </a:solidFill>
              </a:rPr>
              <a:t>環境指紋 → 能力矩陣 → 路徑與評估排序規則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規則的輸入：環境指紋六大區塊</a:t>
            </a:r>
            <a:endParaRPr lang="en-US" sz="3000" dirty="0"/>
          </a:p>
        </p:txBody>
      </p:sp>
      <p:sp>
        <p:nvSpPr>
          <p:cNvPr id="3" name="fp-0"/>
          <p:cNvSpPr/>
          <p:nvPr/>
        </p:nvSpPr>
        <p:spPr>
          <a:xfrm>
            <a:off x="548640" y="132588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fp-0-circle"/>
          <p:cNvSpPr/>
          <p:nvPr/>
        </p:nvSpPr>
        <p:spPr>
          <a:xfrm>
            <a:off x="777240" y="1554480"/>
            <a:ext cx="548640" cy="548640"/>
          </a:xfrm>
          <a:prstGeom prst="ellipse">
            <a:avLst/>
          </a:prstGeom>
          <a:solidFill>
            <a:srgbClr val="0F2A3A"/>
          </a:solidFill>
          <a:ln w="12700">
            <a:solidFill>
              <a:srgbClr val="0F2A3A"/>
            </a:solidFill>
            <a:prstDash val="solid"/>
          </a:ln>
        </p:spPr>
      </p:sp>
      <p:pic>
        <p:nvPicPr>
          <p:cNvPr id="5" name="fp-0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67518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600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2402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</a:rPr>
              <a:t>Forest、網域、DC 數與作業系統、功能等級、信任關係與 SID Filtering</a:t>
            </a:r>
            <a:endParaRPr lang="en-US" sz="1400" dirty="0"/>
          </a:p>
        </p:txBody>
      </p:sp>
      <p:sp>
        <p:nvSpPr>
          <p:cNvPr id="8" name="fp-1"/>
          <p:cNvSpPr/>
          <p:nvPr/>
        </p:nvSpPr>
        <p:spPr>
          <a:xfrm>
            <a:off x="4297680" y="132588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9" name="fp-1-circle"/>
          <p:cNvSpPr/>
          <p:nvPr/>
        </p:nvSpPr>
        <p:spPr>
          <a:xfrm>
            <a:off x="4526280" y="1554480"/>
            <a:ext cx="548640" cy="548640"/>
          </a:xfrm>
          <a:prstGeom prst="ellipse">
            <a:avLst/>
          </a:prstGeom>
          <a:solidFill>
            <a:srgbClr val="0F2A3A"/>
          </a:solidFill>
          <a:ln w="12700">
            <a:solidFill>
              <a:srgbClr val="0F2A3A"/>
            </a:solidFill>
            <a:prstDash val="solid"/>
          </a:ln>
        </p:spPr>
      </p:sp>
      <p:pic>
        <p:nvPicPr>
          <p:cNvPr id="10" name="fp-1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6981" y="167518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212080" y="1600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hybrid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526280" y="22402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</a:rPr>
              <a:t>租戶有無、同步工具、驗證方式（PHS / PTA / AD FS）、Seamless SSO、同步主機</a:t>
            </a:r>
            <a:endParaRPr lang="en-US" sz="1400" dirty="0"/>
          </a:p>
        </p:txBody>
      </p:sp>
      <p:sp>
        <p:nvSpPr>
          <p:cNvPr id="13" name="fp-2"/>
          <p:cNvSpPr/>
          <p:nvPr/>
        </p:nvSpPr>
        <p:spPr>
          <a:xfrm>
            <a:off x="8046720" y="132588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fp-2-circle"/>
          <p:cNvSpPr/>
          <p:nvPr/>
        </p:nvSpPr>
        <p:spPr>
          <a:xfrm>
            <a:off x="8275320" y="1554480"/>
            <a:ext cx="548640" cy="548640"/>
          </a:xfrm>
          <a:prstGeom prst="ellipse">
            <a:avLst/>
          </a:prstGeom>
          <a:solidFill>
            <a:srgbClr val="0F2A3A"/>
          </a:solidFill>
          <a:ln w="12700">
            <a:solidFill>
              <a:srgbClr val="0F2A3A"/>
            </a:solidFill>
            <a:prstDash val="solid"/>
          </a:ln>
        </p:spPr>
      </p:sp>
      <p:pic>
        <p:nvPicPr>
          <p:cNvPr id="15" name="fp-2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6021" y="167518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961120" y="1600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identity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275320" y="22402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</a:rPr>
              <a:t>啟用與特權帳號、Kerberoast、AS-REP、無限制委派、90 天未登入、Entra 特權角色</a:t>
            </a:r>
            <a:endParaRPr lang="en-US" sz="1400" dirty="0"/>
          </a:p>
        </p:txBody>
      </p:sp>
      <p:sp>
        <p:nvSpPr>
          <p:cNvPr id="18" name="fp-3"/>
          <p:cNvSpPr/>
          <p:nvPr/>
        </p:nvSpPr>
        <p:spPr>
          <a:xfrm>
            <a:off x="548640" y="356616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9" name="fp-3-circle"/>
          <p:cNvSpPr/>
          <p:nvPr/>
        </p:nvSpPr>
        <p:spPr>
          <a:xfrm>
            <a:off x="777240" y="3794760"/>
            <a:ext cx="548640" cy="548640"/>
          </a:xfrm>
          <a:prstGeom prst="ellipse">
            <a:avLst/>
          </a:prstGeom>
          <a:solidFill>
            <a:srgbClr val="0F2A3A"/>
          </a:solidFill>
          <a:ln w="12700">
            <a:solidFill>
              <a:srgbClr val="0F2A3A"/>
            </a:solidFill>
            <a:prstDash val="solid"/>
          </a:ln>
        </p:spPr>
      </p:sp>
      <p:pic>
        <p:nvPicPr>
          <p:cNvPr id="20" name="fp-3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1" y="3915461"/>
            <a:ext cx="307238" cy="30723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63040" y="3840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777240" y="44805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</a:rPr>
              <a:t>AD CS 有無、CA 數、已發佈範本、ESC1 候選範本</a:t>
            </a:r>
            <a:endParaRPr lang="en-US" sz="1400" dirty="0"/>
          </a:p>
        </p:txBody>
      </p:sp>
      <p:sp>
        <p:nvSpPr>
          <p:cNvPr id="23" name="fp-4"/>
          <p:cNvSpPr/>
          <p:nvPr/>
        </p:nvSpPr>
        <p:spPr>
          <a:xfrm>
            <a:off x="4297680" y="356616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4" name="fp-4-circle"/>
          <p:cNvSpPr/>
          <p:nvPr/>
        </p:nvSpPr>
        <p:spPr>
          <a:xfrm>
            <a:off x="4526280" y="3794760"/>
            <a:ext cx="548640" cy="548640"/>
          </a:xfrm>
          <a:prstGeom prst="ellipse">
            <a:avLst/>
          </a:prstGeom>
          <a:solidFill>
            <a:srgbClr val="0F2A3A"/>
          </a:solidFill>
          <a:ln w="12700">
            <a:solidFill>
              <a:srgbClr val="0F2A3A"/>
            </a:solidFill>
            <a:prstDash val="solid"/>
          </a:ln>
        </p:spPr>
      </p:sp>
      <p:pic>
        <p:nvPicPr>
          <p:cNvPr id="25" name="fp-4-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6981" y="3915461"/>
            <a:ext cx="307238" cy="30723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212080" y="3840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tooling</a:t>
            </a:r>
            <a:endParaRPr lang="en-US" sz="2000" dirty="0"/>
          </a:p>
        </p:txBody>
      </p:sp>
      <p:sp>
        <p:nvSpPr>
          <p:cNvPr id="27" name="Text 20"/>
          <p:cNvSpPr txBox="1"/>
          <p:nvPr/>
        </p:nvSpPr>
        <p:spPr>
          <a:xfrm>
            <a:off x="4526280" y="44805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</a:rPr>
              <a:t>MDI 部署與授權、EDR、SIEM、Entra P1 / P2</a:t>
            </a:r>
            <a:endParaRPr lang="en-US" sz="1400" dirty="0"/>
          </a:p>
        </p:txBody>
      </p:sp>
      <p:sp>
        <p:nvSpPr>
          <p:cNvPr id="28" name="fp-5"/>
          <p:cNvSpPr/>
          <p:nvPr/>
        </p:nvSpPr>
        <p:spPr>
          <a:xfrm>
            <a:off x="8046720" y="356616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9" name="fp-5-circle"/>
          <p:cNvSpPr/>
          <p:nvPr/>
        </p:nvSpPr>
        <p:spPr>
          <a:xfrm>
            <a:off x="8275320" y="3794760"/>
            <a:ext cx="548640" cy="548640"/>
          </a:xfrm>
          <a:prstGeom prst="ellipse">
            <a:avLst/>
          </a:prstGeom>
          <a:solidFill>
            <a:srgbClr val="0F2A3A"/>
          </a:solidFill>
          <a:ln w="12700">
            <a:solidFill>
              <a:srgbClr val="0F2A3A"/>
            </a:solidFill>
            <a:prstDash val="solid"/>
          </a:ln>
        </p:spPr>
      </p:sp>
      <p:pic>
        <p:nvPicPr>
          <p:cNvPr id="30" name="fp-5-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6021" y="3915461"/>
            <a:ext cx="307238" cy="307238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961120" y="3840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telemetry</a:t>
            </a:r>
            <a:endParaRPr lang="en-US" sz="2000" dirty="0"/>
          </a:p>
        </p:txBody>
      </p:sp>
      <p:sp>
        <p:nvSpPr>
          <p:cNvPr id="32" name="Text 24"/>
          <p:cNvSpPr txBox="1"/>
          <p:nvPr/>
        </p:nvSpPr>
        <p:spPr>
          <a:xfrm>
            <a:off x="8275320" y="44805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</a:rPr>
              <a:t>稽核原則缺漏、Sysmon 覆蓋、SIEM 收集狀態、覆蓋分數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能力矩陣：以 YAML 宣告條件，不改程式</a:t>
            </a:r>
            <a:endParaRPr lang="en-US" sz="3000" dirty="0"/>
          </a:p>
        </p:txBody>
      </p:sp>
      <p:sp>
        <p:nvSpPr>
          <p:cNvPr id="3" name="yaml"/>
          <p:cNvSpPr/>
          <p:nvPr/>
        </p:nvSpPr>
        <p:spPr>
          <a:xfrm>
            <a:off x="548640" y="1280160"/>
            <a:ext cx="6492240" cy="4892040"/>
          </a:xfrm>
          <a:prstGeom prst="roundRect">
            <a:avLst>
              <a:gd name="adj" fmla="val 1121"/>
            </a:avLst>
          </a:prstGeom>
          <a:solidFill>
            <a:srgbClr val="16232E"/>
          </a:solidFill>
          <a:ln w="12700">
            <a:solidFill>
              <a:srgbClr val="16232E"/>
            </a:solidFill>
            <a:prstDash val="solid"/>
          </a:ln>
        </p:spPr>
      </p:sp>
      <p:sp>
        <p:nvSpPr>
          <p:cNvPr id="4" name="yaml-text"/>
          <p:cNvSpPr txBox="1"/>
          <p:nvPr/>
        </p:nvSpPr>
        <p:spPr>
          <a:xfrm>
            <a:off x="685800" y="1371600"/>
            <a:ext cx="6217920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6E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profiles:            # 由上而下，第一個符合者勝出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id: 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name: 完整型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when: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all: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- {path: hybrid.is_hybrid, eq: true}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- {path: tooling.mdi, eq: true}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- {path: tooling.siem, nonempty: true}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- {path: telemetry.coverage_score, gte: 0.6}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id: assess_adcs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when: {path: services.adcs_present, eq: true}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unmet: 未偵測到 AD CS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id: GAP-SIEM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title: 尚無 SIEM，偵測模組無法啟用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when: {path: tooling.siem, empty: true}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blocks: [detect_mdi_triage, detect_sigma_dc]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360920" y="12801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</a:rPr>
              <a:t>四類規則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60920" y="173736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8F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profiles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</a:rPr>
              <a:t>3 條：A 完整型 / B 部分型 / C 地端型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60920" y="2359152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8F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</a:rPr>
              <a:t>9 條：各模組的啟用條件與未啟用原因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60920" y="2980944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8F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</a:rPr>
              <a:t>6 條：缺口與被擋住的模組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360920" y="3602736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8F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tier0_extra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</a:rPr>
              <a:t>5 條：混合環境額外列入 Tier 0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360920" y="42976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</a:rPr>
              <a:t>條件語法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360920" y="4709160"/>
            <a:ext cx="42793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</a:rPr>
              <a:t>運算子：eq ne gt gte lt lte in nonempty empty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</a:rPr>
              <a:t>組合：all / any / not 可巢狀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</a:rPr>
              <a:t>文字代入：{路徑}、{len:路徑}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三種 Profile：第一個符合者勝出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657600"/>
                <a:gridCol w="1737360"/>
                <a:gridCol w="1097280"/>
                <a:gridCol w="322783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Profile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判定條件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模擬法人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啟用模組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缺口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8F7E"/>
                          </a:solidFill>
                        </a:rPr>
                        <a:t>A 完整型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混合身分 + MDI + SIEM + 遙測覆蓋 ≥ 0.6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hq（總公司）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8 / 9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AUDIT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D9922E"/>
                          </a:solidFill>
                        </a:rPr>
                        <a:t>B 部分型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混合身分（缺 MDI、SIEM 或覆蓋不足）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sub-a（AD FS）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5 / 9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AUDIT・SIEM・ENTRA・SYSMON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2410C"/>
                          </a:solidFill>
                        </a:rPr>
                        <a:t>C 地端型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其他（純地端、遙測未知）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sub-b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3 / 9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AUDIT・SIEM・SYSMON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3931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</a:rPr>
              <a:t>同一套規則，三個環境得到三種結果</a:t>
            </a:r>
            <a:endParaRPr lang="en-US" sz="1800" dirty="0"/>
          </a:p>
        </p:txBody>
      </p:sp>
      <p:sp>
        <p:nvSpPr>
          <p:cNvPr id="5" name="ex-0"/>
          <p:cNvSpPr/>
          <p:nvPr/>
        </p:nvSpPr>
        <p:spPr>
          <a:xfrm>
            <a:off x="548640" y="443484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46177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</a:rPr>
              <a:t>sub-b 沒有 Entra 租戶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507492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</a:rPr>
              <a:t>assess_entra、paths_entra 不啟用；Agent 不掛載 entra-graph</a:t>
            </a:r>
            <a:endParaRPr lang="en-US" sz="1300" dirty="0"/>
          </a:p>
        </p:txBody>
      </p:sp>
      <p:sp>
        <p:nvSpPr>
          <p:cNvPr id="8" name="ex-1"/>
          <p:cNvSpPr/>
          <p:nvPr/>
        </p:nvSpPr>
        <p:spPr>
          <a:xfrm>
            <a:off x="4297680" y="443484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26280" y="46177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</a:rPr>
              <a:t>sub-a 驗證方式為 AD FS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4526280" y="507492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</a:rPr>
              <a:t>AD FS 伺服器與 Token-signing 憑證列入額外 Tier 0</a:t>
            </a:r>
            <a:endParaRPr lang="en-US" sz="1300" dirty="0"/>
          </a:p>
        </p:txBody>
      </p:sp>
      <p:sp>
        <p:nvSpPr>
          <p:cNvPr id="11" name="ex-2"/>
          <p:cNvSpPr/>
          <p:nvPr/>
        </p:nvSpPr>
        <p:spPr>
          <a:xfrm>
            <a:off x="8046720" y="443484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75320" y="46177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</a:rPr>
              <a:t>hq 有 AD CS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8275320" y="507492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</a:rPr>
              <a:t>啟用 AD CS 評估；ESC1 範本進入攻擊路徑計算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缺口規則說明「為什麼沒啟用」與「先補什麼」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</a:rPr>
              <a:t>缺口 → 被擋住的模組</a:t>
            </a:r>
            <a:endParaRPr lang="en-US" sz="1800" dirty="0"/>
          </a:p>
        </p:txBody>
      </p:sp>
      <p:sp>
        <p:nvSpPr>
          <p:cNvPr id="4" name="gap-0"/>
          <p:cNvSpPr/>
          <p:nvPr/>
        </p:nvSpPr>
        <p:spPr>
          <a:xfrm>
            <a:off x="548640" y="1810512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FBF0DF"/>
          </a:solidFill>
          <a:ln w="12700">
            <a:solidFill>
              <a:srgbClr val="FBF0DF"/>
            </a:solidFill>
            <a:prstDash val="solid"/>
          </a:ln>
        </p:spPr>
      </p:sp>
      <p:sp>
        <p:nvSpPr>
          <p:cNvPr id="5" name="gap-0-text"/>
          <p:cNvSpPr txBox="1"/>
          <p:nvPr/>
        </p:nvSpPr>
        <p:spPr>
          <a:xfrm>
            <a:off x="548640" y="181051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5A12"/>
                </a:solidFill>
              </a:rPr>
              <a:t>GAP-AUDIT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606040" y="179222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</a:rPr>
              <a:t>DC 稽核原則缺必要子類別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1956816"/>
            <a:ext cx="274320" cy="91"/>
          </a:xfrm>
          <a:prstGeom prst="line">
            <a:avLst/>
          </a:prstGeom>
          <a:noFill/>
          <a:ln w="15875">
            <a:solidFill>
              <a:srgbClr val="B8C1CC"/>
            </a:solidFill>
            <a:prstDash val="solid"/>
            <a:tailEnd type="triangle"/>
          </a:ln>
        </p:spPr>
      </p:sp>
      <p:sp>
        <p:nvSpPr>
          <p:cNvPr id="8" name="gap-0-m0"/>
          <p:cNvSpPr/>
          <p:nvPr/>
        </p:nvSpPr>
        <p:spPr>
          <a:xfrm>
            <a:off x="5212080" y="1810512"/>
            <a:ext cx="1261872" cy="292608"/>
          </a:xfrm>
          <a:prstGeom prst="roundRect">
            <a:avLst>
              <a:gd name="adj" fmla="val 50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9" name="gap-0-m0-text"/>
          <p:cNvSpPr txBox="1"/>
          <p:nvPr/>
        </p:nvSpPr>
        <p:spPr>
          <a:xfrm>
            <a:off x="5212080" y="1810512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430"/>
                </a:solidFill>
              </a:rPr>
              <a:t>DC 事件 + Sigma</a:t>
            </a:r>
            <a:endParaRPr lang="en-US" sz="1100" dirty="0"/>
          </a:p>
        </p:txBody>
      </p:sp>
      <p:sp>
        <p:nvSpPr>
          <p:cNvPr id="10" name="gap-1"/>
          <p:cNvSpPr/>
          <p:nvPr/>
        </p:nvSpPr>
        <p:spPr>
          <a:xfrm>
            <a:off x="548640" y="2523744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FBF0DF"/>
          </a:solidFill>
          <a:ln w="12700">
            <a:solidFill>
              <a:srgbClr val="FBF0DF"/>
            </a:solidFill>
            <a:prstDash val="solid"/>
          </a:ln>
        </p:spPr>
      </p:sp>
      <p:sp>
        <p:nvSpPr>
          <p:cNvPr id="11" name="gap-1-text"/>
          <p:cNvSpPr txBox="1"/>
          <p:nvPr/>
        </p:nvSpPr>
        <p:spPr>
          <a:xfrm>
            <a:off x="548640" y="252374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5A12"/>
                </a:solidFill>
              </a:rPr>
              <a:t>GAP-SIEM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606040" y="250545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</a:rPr>
              <a:t>尚無 SIEM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46320" y="2670048"/>
            <a:ext cx="274320" cy="91"/>
          </a:xfrm>
          <a:prstGeom prst="line">
            <a:avLst/>
          </a:prstGeom>
          <a:noFill/>
          <a:ln w="15875">
            <a:solidFill>
              <a:srgbClr val="B8C1CC"/>
            </a:solidFill>
            <a:prstDash val="solid"/>
            <a:tailEnd type="triangle"/>
          </a:ln>
        </p:spPr>
      </p:sp>
      <p:sp>
        <p:nvSpPr>
          <p:cNvPr id="14" name="gap-1-m0"/>
          <p:cNvSpPr/>
          <p:nvPr/>
        </p:nvSpPr>
        <p:spPr>
          <a:xfrm>
            <a:off x="5212080" y="2523744"/>
            <a:ext cx="1261872" cy="292608"/>
          </a:xfrm>
          <a:prstGeom prst="roundRect">
            <a:avLst>
              <a:gd name="adj" fmla="val 50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5" name="gap-1-m0-text"/>
          <p:cNvSpPr txBox="1"/>
          <p:nvPr/>
        </p:nvSpPr>
        <p:spPr>
          <a:xfrm>
            <a:off x="5212080" y="2523744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430"/>
                </a:solidFill>
              </a:rPr>
              <a:t>MDI 分流</a:t>
            </a:r>
            <a:endParaRPr lang="en-US" sz="1100" dirty="0"/>
          </a:p>
        </p:txBody>
      </p:sp>
      <p:sp>
        <p:nvSpPr>
          <p:cNvPr id="16" name="gap-1-m1"/>
          <p:cNvSpPr/>
          <p:nvPr/>
        </p:nvSpPr>
        <p:spPr>
          <a:xfrm>
            <a:off x="6537960" y="2523744"/>
            <a:ext cx="1261872" cy="292608"/>
          </a:xfrm>
          <a:prstGeom prst="roundRect">
            <a:avLst>
              <a:gd name="adj" fmla="val 50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7" name="gap-1-m1-text"/>
          <p:cNvSpPr txBox="1"/>
          <p:nvPr/>
        </p:nvSpPr>
        <p:spPr>
          <a:xfrm>
            <a:off x="6537960" y="2523744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430"/>
                </a:solidFill>
              </a:rPr>
              <a:t>DC 事件 + Sigma</a:t>
            </a:r>
            <a:endParaRPr lang="en-US" sz="1100" dirty="0"/>
          </a:p>
        </p:txBody>
      </p:sp>
      <p:sp>
        <p:nvSpPr>
          <p:cNvPr id="18" name="gap-1-m2"/>
          <p:cNvSpPr/>
          <p:nvPr/>
        </p:nvSpPr>
        <p:spPr>
          <a:xfrm>
            <a:off x="7863840" y="2523744"/>
            <a:ext cx="1261872" cy="292608"/>
          </a:xfrm>
          <a:prstGeom prst="roundRect">
            <a:avLst>
              <a:gd name="adj" fmla="val 50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9" name="gap-1-m2-text"/>
          <p:cNvSpPr txBox="1"/>
          <p:nvPr/>
        </p:nvSpPr>
        <p:spPr>
          <a:xfrm>
            <a:off x="7863840" y="2523744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430"/>
                </a:solidFill>
              </a:rPr>
              <a:t>Entra 登入</a:t>
            </a:r>
            <a:endParaRPr lang="en-US" sz="1100" dirty="0"/>
          </a:p>
        </p:txBody>
      </p:sp>
      <p:sp>
        <p:nvSpPr>
          <p:cNvPr id="20" name="gap-2"/>
          <p:cNvSpPr/>
          <p:nvPr/>
        </p:nvSpPr>
        <p:spPr>
          <a:xfrm>
            <a:off x="548640" y="3236976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FBF0DF"/>
          </a:solidFill>
          <a:ln w="12700">
            <a:solidFill>
              <a:srgbClr val="FBF0DF"/>
            </a:solidFill>
            <a:prstDash val="solid"/>
          </a:ln>
        </p:spPr>
      </p:sp>
      <p:sp>
        <p:nvSpPr>
          <p:cNvPr id="21" name="gap-2-text"/>
          <p:cNvSpPr txBox="1"/>
          <p:nvPr/>
        </p:nvSpPr>
        <p:spPr>
          <a:xfrm>
            <a:off x="548640" y="323697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5A12"/>
                </a:solidFill>
              </a:rPr>
              <a:t>GAP-DC-INGEST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606040" y="32186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</a:rPr>
              <a:t>DC 事件未送入 SIEM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46320" y="3383280"/>
            <a:ext cx="274320" cy="91"/>
          </a:xfrm>
          <a:prstGeom prst="line">
            <a:avLst/>
          </a:prstGeom>
          <a:noFill/>
          <a:ln w="15875">
            <a:solidFill>
              <a:srgbClr val="B8C1CC"/>
            </a:solidFill>
            <a:prstDash val="solid"/>
            <a:tailEnd type="triangle"/>
          </a:ln>
        </p:spPr>
      </p:sp>
      <p:sp>
        <p:nvSpPr>
          <p:cNvPr id="24" name="gap-2-m0"/>
          <p:cNvSpPr/>
          <p:nvPr/>
        </p:nvSpPr>
        <p:spPr>
          <a:xfrm>
            <a:off x="5212080" y="3236976"/>
            <a:ext cx="1261872" cy="292608"/>
          </a:xfrm>
          <a:prstGeom prst="roundRect">
            <a:avLst>
              <a:gd name="adj" fmla="val 50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5" name="gap-2-m0-text"/>
          <p:cNvSpPr txBox="1"/>
          <p:nvPr/>
        </p:nvSpPr>
        <p:spPr>
          <a:xfrm>
            <a:off x="5212080" y="3236976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430"/>
                </a:solidFill>
              </a:rPr>
              <a:t>DC 事件 + Sigma</a:t>
            </a:r>
            <a:endParaRPr lang="en-US" sz="1100" dirty="0"/>
          </a:p>
        </p:txBody>
      </p:sp>
      <p:sp>
        <p:nvSpPr>
          <p:cNvPr id="26" name="gap-3"/>
          <p:cNvSpPr/>
          <p:nvPr/>
        </p:nvSpPr>
        <p:spPr>
          <a:xfrm>
            <a:off x="548640" y="3950208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FBF0DF"/>
          </a:solidFill>
          <a:ln w="12700">
            <a:solidFill>
              <a:srgbClr val="FBF0DF"/>
            </a:solidFill>
            <a:prstDash val="solid"/>
          </a:ln>
        </p:spPr>
      </p:sp>
      <p:sp>
        <p:nvSpPr>
          <p:cNvPr id="27" name="gap-3-text"/>
          <p:cNvSpPr txBox="1"/>
          <p:nvPr/>
        </p:nvSpPr>
        <p:spPr>
          <a:xfrm>
            <a:off x="548640" y="395020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5A12"/>
                </a:solidFill>
              </a:rPr>
              <a:t>GAP-ENTRA-INGEST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2606040" y="3931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</a:rPr>
              <a:t>Entra 日誌未送入 SIEM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846320" y="4096512"/>
            <a:ext cx="274320" cy="91"/>
          </a:xfrm>
          <a:prstGeom prst="line">
            <a:avLst/>
          </a:prstGeom>
          <a:noFill/>
          <a:ln w="15875">
            <a:solidFill>
              <a:srgbClr val="B8C1CC"/>
            </a:solidFill>
            <a:prstDash val="solid"/>
            <a:tailEnd type="triangle"/>
          </a:ln>
        </p:spPr>
      </p:sp>
      <p:sp>
        <p:nvSpPr>
          <p:cNvPr id="30" name="gap-3-m0"/>
          <p:cNvSpPr/>
          <p:nvPr/>
        </p:nvSpPr>
        <p:spPr>
          <a:xfrm>
            <a:off x="5212080" y="3950208"/>
            <a:ext cx="1261872" cy="292608"/>
          </a:xfrm>
          <a:prstGeom prst="roundRect">
            <a:avLst>
              <a:gd name="adj" fmla="val 50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31" name="gap-3-m0-text"/>
          <p:cNvSpPr txBox="1"/>
          <p:nvPr/>
        </p:nvSpPr>
        <p:spPr>
          <a:xfrm>
            <a:off x="5212080" y="3950208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430"/>
                </a:solidFill>
              </a:rPr>
              <a:t>Entra 登入</a:t>
            </a:r>
            <a:endParaRPr lang="en-US" sz="1100" dirty="0"/>
          </a:p>
        </p:txBody>
      </p:sp>
      <p:sp>
        <p:nvSpPr>
          <p:cNvPr id="32" name="gap-4"/>
          <p:cNvSpPr/>
          <p:nvPr/>
        </p:nvSpPr>
        <p:spPr>
          <a:xfrm>
            <a:off x="548640" y="4663440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FBF0DF"/>
          </a:solidFill>
          <a:ln w="12700">
            <a:solidFill>
              <a:srgbClr val="FBF0DF"/>
            </a:solidFill>
            <a:prstDash val="solid"/>
          </a:ln>
        </p:spPr>
      </p:sp>
      <p:sp>
        <p:nvSpPr>
          <p:cNvPr id="33" name="gap-4-text"/>
          <p:cNvSpPr txBox="1"/>
          <p:nvPr/>
        </p:nvSpPr>
        <p:spPr>
          <a:xfrm>
            <a:off x="548640" y="46634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5A12"/>
                </a:solidFill>
              </a:rPr>
              <a:t>GAP-MDI-UNUSED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2606040" y="46451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</a:rPr>
              <a:t>有 MDI 授權未部署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846320" y="4809744"/>
            <a:ext cx="274320" cy="91"/>
          </a:xfrm>
          <a:prstGeom prst="line">
            <a:avLst/>
          </a:prstGeom>
          <a:noFill/>
          <a:ln w="15875">
            <a:solidFill>
              <a:srgbClr val="B8C1CC"/>
            </a:solidFill>
            <a:prstDash val="solid"/>
            <a:tailEnd type="triangle"/>
          </a:ln>
        </p:spPr>
      </p:sp>
      <p:sp>
        <p:nvSpPr>
          <p:cNvPr id="36" name="gap-4-m0"/>
          <p:cNvSpPr/>
          <p:nvPr/>
        </p:nvSpPr>
        <p:spPr>
          <a:xfrm>
            <a:off x="5212080" y="4663440"/>
            <a:ext cx="1261872" cy="292608"/>
          </a:xfrm>
          <a:prstGeom prst="roundRect">
            <a:avLst>
              <a:gd name="adj" fmla="val 50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37" name="gap-4-m0-text"/>
          <p:cNvSpPr txBox="1"/>
          <p:nvPr/>
        </p:nvSpPr>
        <p:spPr>
          <a:xfrm>
            <a:off x="5212080" y="4663440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430"/>
                </a:solidFill>
              </a:rPr>
              <a:t>MDI 分流</a:t>
            </a:r>
            <a:endParaRPr lang="en-US" sz="1100" dirty="0"/>
          </a:p>
        </p:txBody>
      </p:sp>
      <p:sp>
        <p:nvSpPr>
          <p:cNvPr id="38" name="gap-5"/>
          <p:cNvSpPr/>
          <p:nvPr/>
        </p:nvSpPr>
        <p:spPr>
          <a:xfrm>
            <a:off x="548640" y="5376672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FBF0DF"/>
          </a:solidFill>
          <a:ln w="12700">
            <a:solidFill>
              <a:srgbClr val="FBF0DF"/>
            </a:solidFill>
            <a:prstDash val="solid"/>
          </a:ln>
        </p:spPr>
      </p:sp>
      <p:sp>
        <p:nvSpPr>
          <p:cNvPr id="39" name="gap-5-text"/>
          <p:cNvSpPr txBox="1"/>
          <p:nvPr/>
        </p:nvSpPr>
        <p:spPr>
          <a:xfrm>
            <a:off x="548640" y="537667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5A12"/>
                </a:solidFill>
              </a:rPr>
              <a:t>GAP-SYSMON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2606040" y="535838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</a:rPr>
              <a:t>Sysmon 覆蓋 &lt; 50%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5212080" y="535838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</a:rPr>
              <a:t>不擋模組，列為建議</a:t>
            </a:r>
            <a:endParaRPr lang="en-US" sz="1200" dirty="0"/>
          </a:p>
        </p:txBody>
      </p:sp>
      <p:sp>
        <p:nvSpPr>
          <p:cNvPr id="42" name="t0"/>
          <p:cNvSpPr/>
          <p:nvPr/>
        </p:nvSpPr>
        <p:spPr>
          <a:xfrm>
            <a:off x="9326880" y="1280160"/>
            <a:ext cx="2313432" cy="4846320"/>
          </a:xfrm>
          <a:prstGeom prst="roundRect">
            <a:avLst>
              <a:gd name="adj" fmla="val 3162"/>
            </a:avLst>
          </a:prstGeom>
          <a:solidFill>
            <a:srgbClr val="E3F3F0"/>
          </a:solidFill>
          <a:ln w="12700">
            <a:solidFill>
              <a:srgbClr val="E3F3F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509760" y="1417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8F7E"/>
                </a:solidFill>
              </a:rPr>
              <a:t>額外 Tier 0</a:t>
            </a:r>
            <a:endParaRPr lang="en-US" sz="1600" dirty="0"/>
          </a:p>
        </p:txBody>
      </p:sp>
      <p:sp>
        <p:nvSpPr>
          <p:cNvPr id="44" name="Text 42"/>
          <p:cNvSpPr txBox="1"/>
          <p:nvPr/>
        </p:nvSpPr>
        <p:spPr>
          <a:xfrm>
            <a:off x="9509760" y="1874520"/>
            <a:ext cx="20116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</a:rPr>
              <a:t>Entra Connect / Cloud Sync 主機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</a:rPr>
              <a:t>AD FS 與 Token-signing 憑證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</a:rPr>
              <a:t>PTA Agent 主機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</a:rPr>
              <a:t>AZUREADSSOACC 帳號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</a:rPr>
              <a:t>AD CS 憑證授權單位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9509760" y="55778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</a:rPr>
              <a:t>依指紋條件自動加入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修補順序：每移除一條邊就重算，不用估計</a:t>
            </a:r>
            <a:endParaRPr lang="en-US" sz="3000" dirty="0"/>
          </a:p>
        </p:txBody>
      </p:sp>
      <p:sp>
        <p:nvSpPr>
          <p:cNvPr id="3" name="num-1"/>
          <p:cNvSpPr/>
          <p:nvPr/>
        </p:nvSpPr>
        <p:spPr>
          <a:xfrm>
            <a:off x="548640" y="1371600"/>
            <a:ext cx="502920" cy="502920"/>
          </a:xfrm>
          <a:prstGeom prst="ellipse">
            <a:avLst/>
          </a:prstGeom>
          <a:solidFill>
            <a:srgbClr val="0F2A3A"/>
          </a:solidFill>
          <a:ln w="12700">
            <a:solidFill>
              <a:srgbClr val="0F2A3A"/>
            </a:solidFill>
            <a:prstDash val="solid"/>
          </a:ln>
        </p:spPr>
      </p:sp>
      <p:sp>
        <p:nvSpPr>
          <p:cNvPr id="4" name="num-1-text"/>
          <p:cNvSpPr txBox="1"/>
          <p:nvPr/>
        </p:nvSpPr>
        <p:spPr>
          <a:xfrm>
            <a:off x="54864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1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35331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</a:rPr>
              <a:t>特權成員視為目標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810512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</a:rPr>
              <a:t>Domain Admins 成員本身就是 Tier 0，不算攻擊來源</a:t>
            </a:r>
            <a:endParaRPr lang="en-US" sz="1400" dirty="0"/>
          </a:p>
        </p:txBody>
      </p:sp>
      <p:sp>
        <p:nvSpPr>
          <p:cNvPr id="7" name="num-2"/>
          <p:cNvSpPr/>
          <p:nvPr/>
        </p:nvSpPr>
        <p:spPr>
          <a:xfrm>
            <a:off x="548640" y="2834640"/>
            <a:ext cx="502920" cy="502920"/>
          </a:xfrm>
          <a:prstGeom prst="ellipse">
            <a:avLst/>
          </a:prstGeom>
          <a:solidFill>
            <a:srgbClr val="0F2A3A"/>
          </a:solidFill>
          <a:ln w="12700">
            <a:solidFill>
              <a:srgbClr val="0F2A3A"/>
            </a:solidFill>
            <a:prstDash val="solid"/>
          </a:ln>
        </p:spPr>
      </p:sp>
      <p:sp>
        <p:nvSpPr>
          <p:cNvPr id="8" name="num-2-text"/>
          <p:cNvSpPr txBox="1"/>
          <p:nvPr/>
        </p:nvSpPr>
        <p:spPr>
          <a:xfrm>
            <a:off x="54864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2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81635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</a:rPr>
              <a:t>反向 BFS 求最短路徑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3273552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</a:rPr>
              <a:t>從 Tier 0 往回推，得到每個來源的一條路徑</a:t>
            </a:r>
            <a:endParaRPr lang="en-US" sz="1400" dirty="0"/>
          </a:p>
        </p:txBody>
      </p:sp>
      <p:sp>
        <p:nvSpPr>
          <p:cNvPr id="11" name="num-3"/>
          <p:cNvSpPr/>
          <p:nvPr/>
        </p:nvSpPr>
        <p:spPr>
          <a:xfrm>
            <a:off x="548640" y="4297680"/>
            <a:ext cx="502920" cy="502920"/>
          </a:xfrm>
          <a:prstGeom prst="ellipse">
            <a:avLst/>
          </a:prstGeom>
          <a:solidFill>
            <a:srgbClr val="0F2A3A"/>
          </a:solidFill>
          <a:ln w="12700">
            <a:solidFill>
              <a:srgbClr val="0F2A3A"/>
            </a:solidFill>
            <a:prstDash val="solid"/>
          </a:ln>
        </p:spPr>
      </p:sp>
      <p:sp>
        <p:nvSpPr>
          <p:cNvPr id="12" name="num-3-text"/>
          <p:cNvSpPr txBox="1"/>
          <p:nvPr/>
        </p:nvSpPr>
        <p:spPr>
          <a:xfrm>
            <a:off x="54864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3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427939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</a:rPr>
              <a:t>貪婪移除並重算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736592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</a:rPr>
              <a:t>每輪試移除候選邊，選切斷最多來源者，再對剩餘路徑重複</a:t>
            </a:r>
            <a:endParaRPr lang="en-US" sz="14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5669280" y="1280160"/>
          <a:ext cx="59436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step1"/>
          <p:cNvSpPr/>
          <p:nvPr/>
        </p:nvSpPr>
        <p:spPr>
          <a:xfrm>
            <a:off x="5669280" y="5349240"/>
            <a:ext cx="5971032" cy="777240"/>
          </a:xfrm>
          <a:prstGeom prst="roundRect">
            <a:avLst>
              <a:gd name="adj" fmla="val 9412"/>
            </a:avLst>
          </a:prstGeom>
          <a:solidFill>
            <a:srgbClr val="FBF0DF"/>
          </a:solidFill>
          <a:ln w="12700">
            <a:solidFill>
              <a:srgbClr val="FBF0D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852160" y="5440680"/>
            <a:ext cx="5623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</a:rPr>
              <a:t>第 1 步：移除 Domain Users -[Enroll]-&gt; VPNUser（ESC1 範本），一次切斷 226 個帳號（96.6%）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評估排序：落在真實攻擊路徑上的發現優先</a:t>
            </a:r>
            <a:endParaRPr lang="en-US" sz="3000" dirty="0"/>
          </a:p>
        </p:txBody>
      </p:sp>
      <p:sp>
        <p:nvSpPr>
          <p:cNvPr id="3" name="formula"/>
          <p:cNvSpPr/>
          <p:nvPr/>
        </p:nvSpPr>
        <p:spPr>
          <a:xfrm>
            <a:off x="548640" y="1280160"/>
            <a:ext cx="11091672" cy="1143000"/>
          </a:xfrm>
          <a:prstGeom prst="roundRect">
            <a:avLst>
              <a:gd name="adj" fmla="val 64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</a:rPr>
              <a:t>優先分數 ＝ </a:t>
            </a:r>
            <a:pPr indent="0" marL="0">
              <a:buNone/>
            </a:pPr>
            <a:r>
              <a:rPr lang="en-US" sz="1800" b="1" dirty="0">
                <a:solidFill>
                  <a:srgbClr val="0F2A3A"/>
                </a:solidFill>
              </a:rPr>
              <a:t>嚴重度權重</a:t>
            </a:r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</a:rPr>
              <a:t>（40 / 30 / 15 / 5 / 0）＋ </a:t>
            </a:r>
            <a:pPr indent="0" marL="0">
              <a:buNone/>
            </a:pPr>
            <a:r>
              <a:rPr lang="en-US" sz="1800" b="1" dirty="0">
                <a:solidFill>
                  <a:srgbClr val="0F2A3A"/>
                </a:solidFill>
              </a:rPr>
              <a:t>min(點數, 50) × 0.2</a:t>
            </a:r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</a:rPr>
              <a:t> ＋ </a:t>
            </a:r>
            <a:pPr indent="0" marL="0">
              <a:buNone/>
            </a:pPr>
            <a:r>
              <a:rPr lang="en-US" sz="1800" b="1" dirty="0">
                <a:solidFill>
                  <a:srgbClr val="D9922E"/>
                </a:solidFill>
              </a:rPr>
              <a:t>25</a:t>
            </a:r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</a:rPr>
              <a:t>（技術對應的邊在路徑上）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97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</a:rPr>
              <a:t>ATT&amp;CK 技術 → 圖譜中的邊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108960"/>
          <a:ext cx="51206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286000"/>
                <a:gridCol w="1554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</a:rPr>
                        <a:t>技術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</a:rPr>
                        <a:t>意義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</a:rPr>
                        <a:t>邊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T1649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AD CS 憑證濫用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ADCSESC1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T1003.006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DCSync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DCSync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T1484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群組原則／ACL 修改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GenericAll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T1550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憑證竊取後橫向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HasSession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035040" y="269748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</a:rPr>
              <a:t>模擬結果：三個法人的第一名都因落在路徑上而升到最前</a:t>
            </a:r>
            <a:endParaRPr lang="en-US" sz="1600" dirty="0"/>
          </a:p>
        </p:txBody>
      </p:sp>
      <p:sp>
        <p:nvSpPr>
          <p:cNvPr id="8" name="top-0"/>
          <p:cNvSpPr/>
          <p:nvPr/>
        </p:nvSpPr>
        <p:spPr>
          <a:xfrm>
            <a:off x="6035040" y="3154680"/>
            <a:ext cx="5605272" cy="841248"/>
          </a:xfrm>
          <a:prstGeom prst="roundRect">
            <a:avLst>
              <a:gd name="adj" fmla="val 869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217920" y="326440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B6472"/>
                </a:solidFill>
              </a:rPr>
              <a:t>hq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040880" y="326440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A-CertTempCustomSubject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040880" y="36118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9922E"/>
                </a:solidFill>
              </a:rPr>
              <a:t>40 + 10 + 25 = 75</a:t>
            </a:r>
            <a:endParaRPr lang="en-US" sz="1300" dirty="0"/>
          </a:p>
        </p:txBody>
      </p:sp>
      <p:sp>
        <p:nvSpPr>
          <p:cNvPr id="12" name="top-1"/>
          <p:cNvSpPr/>
          <p:nvPr/>
        </p:nvSpPr>
        <p:spPr>
          <a:xfrm>
            <a:off x="6035040" y="4142232"/>
            <a:ext cx="5605272" cy="841248"/>
          </a:xfrm>
          <a:prstGeom prst="roundRect">
            <a:avLst>
              <a:gd name="adj" fmla="val 869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217920" y="425196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B6472"/>
                </a:solidFill>
              </a:rPr>
              <a:t>sub-a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040880" y="42519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P-ControlPathIndirectEveryone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040880" y="459943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9922E"/>
                </a:solidFill>
              </a:rPr>
              <a:t>30 + 6 + 25 = 61</a:t>
            </a:r>
            <a:endParaRPr lang="en-US" sz="1300" dirty="0"/>
          </a:p>
        </p:txBody>
      </p:sp>
      <p:sp>
        <p:nvSpPr>
          <p:cNvPr id="16" name="top-2"/>
          <p:cNvSpPr/>
          <p:nvPr/>
        </p:nvSpPr>
        <p:spPr>
          <a:xfrm>
            <a:off x="6035040" y="5129784"/>
            <a:ext cx="5605272" cy="841248"/>
          </a:xfrm>
          <a:prstGeom prst="roundRect">
            <a:avLst>
              <a:gd name="adj" fmla="val 869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217920" y="523951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B6472"/>
                </a:solidFill>
              </a:rPr>
              <a:t>sub-b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7040880" y="523951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P-UnconstrainedDelegation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7040880" y="558698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9922E"/>
                </a:solidFill>
              </a:rPr>
              <a:t>15 + 3 + 25 = 43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20116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6"/>
                </a:solidFill>
              </a:rPr>
              <a:t>02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30175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Review 機制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0233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FC3D0"/>
                </a:solidFill>
              </a:rPr>
              <a:t>設計時、執行時、產出時、事後，四個時間點各有把關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四個時間點的 Review：設計、執行、產出、事後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417320" y="1691640"/>
            <a:ext cx="2084832" cy="91"/>
          </a:xfrm>
          <a:prstGeom prst="line">
            <a:avLst/>
          </a:prstGeom>
          <a:noFill/>
          <a:ln w="15875">
            <a:solidFill>
              <a:srgbClr val="B8C1CC"/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4233672" y="1691640"/>
            <a:ext cx="2084832" cy="91"/>
          </a:xfrm>
          <a:prstGeom prst="line">
            <a:avLst/>
          </a:prstGeom>
          <a:noFill/>
          <a:ln w="15875">
            <a:solidFill>
              <a:srgbClr val="B8C1CC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7050024" y="1691640"/>
            <a:ext cx="2084832" cy="91"/>
          </a:xfrm>
          <a:prstGeom prst="line">
            <a:avLst/>
          </a:prstGeom>
          <a:noFill/>
          <a:ln w="15875">
            <a:solidFill>
              <a:srgbClr val="B8C1CC"/>
            </a:solidFill>
            <a:prstDash val="solid"/>
            <a:tailEnd type="triangle"/>
          </a:ln>
        </p:spPr>
      </p:sp>
      <p:sp>
        <p:nvSpPr>
          <p:cNvPr id="6" name="rv-0-circle"/>
          <p:cNvSpPr/>
          <p:nvPr/>
        </p:nvSpPr>
        <p:spPr>
          <a:xfrm>
            <a:off x="685800" y="1325880"/>
            <a:ext cx="731520" cy="731520"/>
          </a:xfrm>
          <a:prstGeom prst="ellipse">
            <a:avLst/>
          </a:prstGeom>
          <a:solidFill>
            <a:srgbClr val="0F2A3A"/>
          </a:solidFill>
          <a:ln w="12700">
            <a:solidFill>
              <a:srgbClr val="0F2A3A"/>
            </a:solidFill>
            <a:prstDash val="solid"/>
          </a:ln>
        </p:spPr>
      </p:sp>
      <p:pic>
        <p:nvPicPr>
          <p:cNvPr id="7" name="rv-0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6734" y="1486814"/>
            <a:ext cx="409651" cy="40965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22402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2430"/>
                </a:solidFill>
              </a:rPr>
              <a:t>設計時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6974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8F7E"/>
                </a:solidFill>
              </a:rPr>
              <a:t>改了什麼</a:t>
            </a:r>
            <a:endParaRPr lang="en-US" sz="1400" dirty="0"/>
          </a:p>
        </p:txBody>
      </p:sp>
      <p:sp>
        <p:nvSpPr>
          <p:cNvPr id="10" name="rv-card-0"/>
          <p:cNvSpPr/>
          <p:nvPr/>
        </p:nvSpPr>
        <p:spPr>
          <a:xfrm>
            <a:off x="548640" y="3246120"/>
            <a:ext cx="2606040" cy="2240280"/>
          </a:xfrm>
          <a:prstGeom prst="roundRect">
            <a:avLst>
              <a:gd name="adj" fmla="val 3265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342900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</a:rPr>
              <a:t>規則變更走 PR 與驗收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</a:rPr>
              <a:t>MCP 工具與放行清單自動比對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</a:rPr>
              <a:t>Skill 上線前送安全檢測平台</a:t>
            </a:r>
            <a:endParaRPr lang="en-US" sz="1500" dirty="0"/>
          </a:p>
        </p:txBody>
      </p:sp>
      <p:sp>
        <p:nvSpPr>
          <p:cNvPr id="12" name="rv-1-circle"/>
          <p:cNvSpPr/>
          <p:nvPr/>
        </p:nvSpPr>
        <p:spPr>
          <a:xfrm>
            <a:off x="3502152" y="1325880"/>
            <a:ext cx="731520" cy="731520"/>
          </a:xfrm>
          <a:prstGeom prst="ellipse">
            <a:avLst/>
          </a:prstGeom>
          <a:solidFill>
            <a:srgbClr val="0F2A3A"/>
          </a:solidFill>
          <a:ln w="12700">
            <a:solidFill>
              <a:srgbClr val="0F2A3A"/>
            </a:solidFill>
            <a:prstDash val="solid"/>
          </a:ln>
        </p:spPr>
      </p:sp>
      <p:pic>
        <p:nvPicPr>
          <p:cNvPr id="13" name="rv-1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3086" y="1486814"/>
            <a:ext cx="409651" cy="409651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364992" y="22402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2430"/>
                </a:solidFill>
              </a:rPr>
              <a:t>執行時</a:t>
            </a:r>
            <a:endParaRPr lang="en-US" sz="2200" dirty="0"/>
          </a:p>
        </p:txBody>
      </p:sp>
      <p:sp>
        <p:nvSpPr>
          <p:cNvPr id="15" name="Text 11"/>
          <p:cNvSpPr txBox="1"/>
          <p:nvPr/>
        </p:nvSpPr>
        <p:spPr>
          <a:xfrm>
            <a:off x="3364992" y="26974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8F7E"/>
                </a:solidFill>
              </a:rPr>
              <a:t>AI 能做什麼</a:t>
            </a:r>
            <a:endParaRPr lang="en-US" sz="1400" dirty="0"/>
          </a:p>
        </p:txBody>
      </p:sp>
      <p:sp>
        <p:nvSpPr>
          <p:cNvPr id="16" name="rv-card-1"/>
          <p:cNvSpPr/>
          <p:nvPr/>
        </p:nvSpPr>
        <p:spPr>
          <a:xfrm>
            <a:off x="3364992" y="3246120"/>
            <a:ext cx="2606040" cy="2240280"/>
          </a:xfrm>
          <a:prstGeom prst="roundRect">
            <a:avLst>
              <a:gd name="adj" fmla="val 3265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3547872" y="342900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</a:rPr>
              <a:t>四道防線，只能唯讀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</a:rPr>
              <a:t>寫入型 Cypher 雙重攔截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</a:rPr>
              <a:t>回傳內容注入偵測</a:t>
            </a:r>
            <a:endParaRPr lang="en-US" sz="1500" dirty="0"/>
          </a:p>
        </p:txBody>
      </p:sp>
      <p:sp>
        <p:nvSpPr>
          <p:cNvPr id="18" name="rv-2-circle"/>
          <p:cNvSpPr/>
          <p:nvPr/>
        </p:nvSpPr>
        <p:spPr>
          <a:xfrm>
            <a:off x="6318504" y="1325880"/>
            <a:ext cx="731520" cy="731520"/>
          </a:xfrm>
          <a:prstGeom prst="ellipse">
            <a:avLst/>
          </a:prstGeom>
          <a:solidFill>
            <a:srgbClr val="0E8F7E"/>
          </a:solidFill>
          <a:ln w="12700">
            <a:solidFill>
              <a:srgbClr val="0E8F7E"/>
            </a:solidFill>
            <a:prstDash val="solid"/>
          </a:ln>
        </p:spPr>
      </p:sp>
      <p:pic>
        <p:nvPicPr>
          <p:cNvPr id="19" name="rv-2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9438" y="1486814"/>
            <a:ext cx="409651" cy="409651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181344" y="22402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2430"/>
                </a:solidFill>
              </a:rPr>
              <a:t>產出時</a:t>
            </a:r>
            <a:endParaRPr lang="en-US" sz="2200" dirty="0"/>
          </a:p>
        </p:txBody>
      </p:sp>
      <p:sp>
        <p:nvSpPr>
          <p:cNvPr id="21" name="Text 16"/>
          <p:cNvSpPr txBox="1"/>
          <p:nvPr/>
        </p:nvSpPr>
        <p:spPr>
          <a:xfrm>
            <a:off x="6181344" y="26974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8F7E"/>
                </a:solidFill>
              </a:rPr>
              <a:t>誰來決定</a:t>
            </a:r>
            <a:endParaRPr lang="en-US" sz="1400" dirty="0"/>
          </a:p>
        </p:txBody>
      </p:sp>
      <p:sp>
        <p:nvSpPr>
          <p:cNvPr id="22" name="rv-card-2"/>
          <p:cNvSpPr/>
          <p:nvPr/>
        </p:nvSpPr>
        <p:spPr>
          <a:xfrm>
            <a:off x="6181344" y="3246120"/>
            <a:ext cx="2606040" cy="2240280"/>
          </a:xfrm>
          <a:prstGeom prst="roundRect">
            <a:avLst>
              <a:gd name="adj" fmla="val 3265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6364224" y="342900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</a:rPr>
              <a:t>人工審核閘門 L0–L3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</a:rPr>
              <a:t>報告不經 LLM 改寫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</a:rPr>
              <a:t>變更只產出提案</a:t>
            </a:r>
            <a:endParaRPr lang="en-US" sz="1500" dirty="0"/>
          </a:p>
        </p:txBody>
      </p:sp>
      <p:sp>
        <p:nvSpPr>
          <p:cNvPr id="24" name="rv-3-circle"/>
          <p:cNvSpPr/>
          <p:nvPr/>
        </p:nvSpPr>
        <p:spPr>
          <a:xfrm>
            <a:off x="9134856" y="1325880"/>
            <a:ext cx="731520" cy="731520"/>
          </a:xfrm>
          <a:prstGeom prst="ellipse">
            <a:avLst/>
          </a:prstGeom>
          <a:solidFill>
            <a:srgbClr val="0F2A3A"/>
          </a:solidFill>
          <a:ln w="12700">
            <a:solidFill>
              <a:srgbClr val="0F2A3A"/>
            </a:solidFill>
            <a:prstDash val="solid"/>
          </a:ln>
        </p:spPr>
      </p:sp>
      <p:pic>
        <p:nvPicPr>
          <p:cNvPr id="25" name="rv-3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5790" y="1486814"/>
            <a:ext cx="409651" cy="409651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8997696" y="22402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2430"/>
                </a:solidFill>
              </a:rPr>
              <a:t>事後</a:t>
            </a:r>
            <a:endParaRPr lang="en-US" sz="2200" dirty="0"/>
          </a:p>
        </p:txBody>
      </p:sp>
      <p:sp>
        <p:nvSpPr>
          <p:cNvPr id="27" name="Text 21"/>
          <p:cNvSpPr txBox="1"/>
          <p:nvPr/>
        </p:nvSpPr>
        <p:spPr>
          <a:xfrm>
            <a:off x="8997696" y="26974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8F7E"/>
                </a:solidFill>
              </a:rPr>
              <a:t>怎麼追溯</a:t>
            </a:r>
            <a:endParaRPr lang="en-US" sz="1400" dirty="0"/>
          </a:p>
        </p:txBody>
      </p:sp>
      <p:sp>
        <p:nvSpPr>
          <p:cNvPr id="28" name="rv-card-3"/>
          <p:cNvSpPr/>
          <p:nvPr/>
        </p:nvSpPr>
        <p:spPr>
          <a:xfrm>
            <a:off x="8997696" y="3246120"/>
            <a:ext cx="2606040" cy="2240280"/>
          </a:xfrm>
          <a:prstGeom prst="roundRect">
            <a:avLst>
              <a:gd name="adj" fmla="val 3265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9180576" y="342900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</a:rPr>
              <a:t>hash-chain 稽核鏈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</a:rPr>
              <a:t>V1–V11 驗收紀錄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</a:rPr>
              <a:t>模型評測集定期重跑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Agent 只能讀：四道獨立防線，任一失效仍有其他擋下</a:t>
            </a:r>
            <a:endParaRPr lang="en-US" sz="3000" dirty="0"/>
          </a:p>
        </p:txBody>
      </p:sp>
      <p:sp>
        <p:nvSpPr>
          <p:cNvPr id="3" name="layer-0"/>
          <p:cNvSpPr/>
          <p:nvPr/>
        </p:nvSpPr>
        <p:spPr>
          <a:xfrm>
            <a:off x="548640" y="1325880"/>
            <a:ext cx="6949440" cy="896112"/>
          </a:xfrm>
          <a:prstGeom prst="roundRect">
            <a:avLst>
              <a:gd name="adj" fmla="val 8163"/>
            </a:avLst>
          </a:prstGeom>
          <a:solidFill>
            <a:srgbClr val="F6F8FA"/>
          </a:solidFill>
          <a:ln w="15875">
            <a:solidFill>
              <a:srgbClr val="B8C1CC"/>
            </a:solidFill>
            <a:prstDash val="solid"/>
          </a:ln>
        </p:spPr>
      </p:sp>
      <p:sp>
        <p:nvSpPr>
          <p:cNvPr id="4" name="num-1"/>
          <p:cNvSpPr/>
          <p:nvPr/>
        </p:nvSpPr>
        <p:spPr>
          <a:xfrm>
            <a:off x="731520" y="1527048"/>
            <a:ext cx="493776" cy="493776"/>
          </a:xfrm>
          <a:prstGeom prst="ellipse">
            <a:avLst/>
          </a:prstGeom>
          <a:solidFill>
            <a:srgbClr val="0E8F7E"/>
          </a:solidFill>
          <a:ln w="12700">
            <a:solidFill>
              <a:srgbClr val="0E8F7E"/>
            </a:solidFill>
            <a:prstDash val="solid"/>
          </a:ln>
        </p:spPr>
      </p:sp>
      <p:sp>
        <p:nvSpPr>
          <p:cNvPr id="5" name="num-1-text"/>
          <p:cNvSpPr txBox="1"/>
          <p:nvPr/>
        </p:nvSpPr>
        <p:spPr>
          <a:xfrm>
            <a:off x="731520" y="152704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41732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</a:rPr>
              <a:t>MCP Server 只實作讀取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764792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</a:rPr>
              <a:t>18 個工具全部標註 readOnlyHint；寫入型 Cypher 直接回 PermissionError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120640" y="14356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mcp_servers/</a:t>
            </a:r>
            <a:endParaRPr lang="en-US" sz="1000" dirty="0"/>
          </a:p>
        </p:txBody>
      </p:sp>
      <p:sp>
        <p:nvSpPr>
          <p:cNvPr id="9" name="layer-1"/>
          <p:cNvSpPr/>
          <p:nvPr/>
        </p:nvSpPr>
        <p:spPr>
          <a:xfrm>
            <a:off x="777240" y="2350008"/>
            <a:ext cx="6492240" cy="896112"/>
          </a:xfrm>
          <a:prstGeom prst="roundRect">
            <a:avLst>
              <a:gd name="adj" fmla="val 8163"/>
            </a:avLst>
          </a:prstGeom>
          <a:solidFill>
            <a:srgbClr val="EEF2F5"/>
          </a:solidFill>
          <a:ln w="15875">
            <a:solidFill>
              <a:srgbClr val="B8C1CC"/>
            </a:solidFill>
            <a:prstDash val="solid"/>
          </a:ln>
        </p:spPr>
      </p:sp>
      <p:sp>
        <p:nvSpPr>
          <p:cNvPr id="10" name="num-2"/>
          <p:cNvSpPr/>
          <p:nvPr/>
        </p:nvSpPr>
        <p:spPr>
          <a:xfrm>
            <a:off x="960120" y="2551176"/>
            <a:ext cx="493776" cy="493776"/>
          </a:xfrm>
          <a:prstGeom prst="ellipse">
            <a:avLst/>
          </a:prstGeom>
          <a:solidFill>
            <a:srgbClr val="0E8F7E"/>
          </a:solidFill>
          <a:ln w="12700">
            <a:solidFill>
              <a:srgbClr val="0E8F7E"/>
            </a:solidFill>
            <a:prstDash val="solid"/>
          </a:ln>
        </p:spPr>
      </p:sp>
      <p:sp>
        <p:nvSpPr>
          <p:cNvPr id="11" name="num-2-text"/>
          <p:cNvSpPr txBox="1"/>
          <p:nvPr/>
        </p:nvSpPr>
        <p:spPr>
          <a:xfrm>
            <a:off x="960120" y="255117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244144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</a:rPr>
              <a:t>SDK 工具限制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278892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</a:rPr>
              <a:t>tools 只留 Agent、Skill；Bash、檔案、網路工具全部 disallow；strict_mcp_config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245973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orchestrator.py</a:t>
            </a:r>
            <a:endParaRPr lang="en-US" sz="1000" dirty="0"/>
          </a:p>
        </p:txBody>
      </p:sp>
      <p:sp>
        <p:nvSpPr>
          <p:cNvPr id="15" name="layer-2"/>
          <p:cNvSpPr/>
          <p:nvPr/>
        </p:nvSpPr>
        <p:spPr>
          <a:xfrm>
            <a:off x="1005840" y="3374136"/>
            <a:ext cx="6035040" cy="896112"/>
          </a:xfrm>
          <a:prstGeom prst="roundRect">
            <a:avLst>
              <a:gd name="adj" fmla="val 8163"/>
            </a:avLst>
          </a:prstGeom>
          <a:solidFill>
            <a:srgbClr val="F6F8FA"/>
          </a:solidFill>
          <a:ln w="15875">
            <a:solidFill>
              <a:srgbClr val="B8C1CC"/>
            </a:solidFill>
            <a:prstDash val="solid"/>
          </a:ln>
        </p:spPr>
      </p:sp>
      <p:sp>
        <p:nvSpPr>
          <p:cNvPr id="16" name="num-3"/>
          <p:cNvSpPr/>
          <p:nvPr/>
        </p:nvSpPr>
        <p:spPr>
          <a:xfrm>
            <a:off x="1188720" y="3575304"/>
            <a:ext cx="493776" cy="493776"/>
          </a:xfrm>
          <a:prstGeom prst="ellipse">
            <a:avLst/>
          </a:prstGeom>
          <a:solidFill>
            <a:srgbClr val="0E8F7E"/>
          </a:solidFill>
          <a:ln w="12700">
            <a:solidFill>
              <a:srgbClr val="0E8F7E"/>
            </a:solidFill>
            <a:prstDash val="solid"/>
          </a:ln>
        </p:spPr>
      </p:sp>
      <p:sp>
        <p:nvSpPr>
          <p:cNvPr id="17" name="num-3-text"/>
          <p:cNvSpPr txBox="1"/>
          <p:nvPr/>
        </p:nvSpPr>
        <p:spPr>
          <a:xfrm>
            <a:off x="1188720" y="357530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828800" y="346557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</a:rPr>
              <a:t>PreToolUse 放行清單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828800" y="381304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</a:rPr>
              <a:t>清單外的工具與寫入型 Cypher 一律拒絕並寫稽核鏈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663440" y="348386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hooks.py</a:t>
            </a:r>
            <a:endParaRPr lang="en-US" sz="1000" dirty="0"/>
          </a:p>
        </p:txBody>
      </p:sp>
      <p:sp>
        <p:nvSpPr>
          <p:cNvPr id="21" name="layer-3"/>
          <p:cNvSpPr/>
          <p:nvPr/>
        </p:nvSpPr>
        <p:spPr>
          <a:xfrm>
            <a:off x="1234440" y="4398264"/>
            <a:ext cx="5577840" cy="896112"/>
          </a:xfrm>
          <a:prstGeom prst="roundRect">
            <a:avLst>
              <a:gd name="adj" fmla="val 8163"/>
            </a:avLst>
          </a:prstGeom>
          <a:solidFill>
            <a:srgbClr val="EEF2F5"/>
          </a:solidFill>
          <a:ln w="15875">
            <a:solidFill>
              <a:srgbClr val="B8C1CC"/>
            </a:solidFill>
            <a:prstDash val="solid"/>
          </a:ln>
        </p:spPr>
      </p:sp>
      <p:sp>
        <p:nvSpPr>
          <p:cNvPr id="22" name="num-4"/>
          <p:cNvSpPr/>
          <p:nvPr/>
        </p:nvSpPr>
        <p:spPr>
          <a:xfrm>
            <a:off x="1417320" y="4599432"/>
            <a:ext cx="493776" cy="493776"/>
          </a:xfrm>
          <a:prstGeom prst="ellipse">
            <a:avLst/>
          </a:prstGeom>
          <a:solidFill>
            <a:srgbClr val="0E8F7E"/>
          </a:solidFill>
          <a:ln w="12700">
            <a:solidFill>
              <a:srgbClr val="0E8F7E"/>
            </a:solidFill>
            <a:prstDash val="solid"/>
          </a:ln>
        </p:spPr>
      </p:sp>
      <p:sp>
        <p:nvSpPr>
          <p:cNvPr id="23" name="num-4-text"/>
          <p:cNvSpPr txBox="1"/>
          <p:nvPr/>
        </p:nvSpPr>
        <p:spPr>
          <a:xfrm>
            <a:off x="1417320" y="45994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2057400" y="448970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</a:rPr>
              <a:t>permission_mode = dontAsk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2057400" y="4837176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</a:rPr>
              <a:t>需要詢問權限的動作直接拒絕，不會跳出確認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434840" y="45079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orchestrator.py</a:t>
            </a:r>
            <a:endParaRPr lang="en-US" sz="1000" dirty="0"/>
          </a:p>
        </p:txBody>
      </p:sp>
      <p:sp>
        <p:nvSpPr>
          <p:cNvPr id="27" name="inject"/>
          <p:cNvSpPr/>
          <p:nvPr/>
        </p:nvSpPr>
        <p:spPr>
          <a:xfrm>
            <a:off x="7863840" y="1325880"/>
            <a:ext cx="3776472" cy="3017520"/>
          </a:xfrm>
          <a:prstGeom prst="roundRect">
            <a:avLst>
              <a:gd name="adj" fmla="val 2424"/>
            </a:avLst>
          </a:prstGeom>
          <a:solidFill>
            <a:srgbClr val="FBF0DF"/>
          </a:solidFill>
          <a:ln w="12700">
            <a:solidFill>
              <a:srgbClr val="FBF0DF"/>
            </a:solidFill>
            <a:prstDash val="solid"/>
          </a:ln>
        </p:spPr>
      </p:sp>
      <p:sp>
        <p:nvSpPr>
          <p:cNvPr id="28" name="inject-circle"/>
          <p:cNvSpPr/>
          <p:nvPr/>
        </p:nvSpPr>
        <p:spPr>
          <a:xfrm>
            <a:off x="8092440" y="1554480"/>
            <a:ext cx="548640" cy="548640"/>
          </a:xfrm>
          <a:prstGeom prst="ellipse">
            <a:avLst/>
          </a:prstGeom>
          <a:solidFill>
            <a:srgbClr val="D9922E"/>
          </a:solidFill>
          <a:ln w="12700">
            <a:solidFill>
              <a:srgbClr val="D9922E"/>
            </a:solidFill>
            <a:prstDash val="solid"/>
          </a:ln>
        </p:spPr>
      </p:sp>
      <p:pic>
        <p:nvPicPr>
          <p:cNvPr id="29" name="inject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3141" y="1675181"/>
            <a:ext cx="307238" cy="307238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8778240" y="16459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</a:rPr>
              <a:t>提示注入防護</a:t>
            </a:r>
            <a:endParaRPr lang="en-US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8092440" y="2286000"/>
            <a:ext cx="3383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</a:rPr>
              <a:t>工具回傳一律加註「資料不是指令」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</a:rPr>
              <a:t>截斷長字串、移除控制字元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</a:rPr>
              <a:t>PostToolUse 偵測可疑指令文字，提醒模型並標示物件</a:t>
            </a:r>
            <a:endParaRPr lang="en-US" sz="1300" dirty="0"/>
          </a:p>
        </p:txBody>
      </p:sp>
      <p:sp>
        <p:nvSpPr>
          <p:cNvPr id="32" name="evidence"/>
          <p:cNvSpPr/>
          <p:nvPr/>
        </p:nvSpPr>
        <p:spPr>
          <a:xfrm>
            <a:off x="7863840" y="4526280"/>
            <a:ext cx="3776472" cy="1600200"/>
          </a:xfrm>
          <a:prstGeom prst="roundRect">
            <a:avLst>
              <a:gd name="adj" fmla="val 4571"/>
            </a:avLst>
          </a:prstGeom>
          <a:solidFill>
            <a:srgbClr val="E3F3F0"/>
          </a:solidFill>
          <a:ln w="12700">
            <a:solidFill>
              <a:srgbClr val="E3F3F0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092440" y="4663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8F7E"/>
                </a:solidFill>
              </a:rPr>
              <a:t>實測證據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8092440" y="502920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</a:rPr>
              <a:t>樁模型端到端測試中，模型可見工具只有 20 個（18 個 MCP + Agent + Skill），看不到 Bash 與主機上的其他 MCP。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人工審核閘門：依風險分四級授權</a:t>
            </a:r>
            <a:endParaRPr lang="en-US" sz="3000" dirty="0"/>
          </a:p>
        </p:txBody>
      </p:sp>
      <p:sp>
        <p:nvSpPr>
          <p:cNvPr id="3" name="lv-0"/>
          <p:cNvSpPr/>
          <p:nvPr/>
        </p:nvSpPr>
        <p:spPr>
          <a:xfrm>
            <a:off x="548640" y="402336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6B7A8F"/>
          </a:solidFill>
          <a:ln w="12700">
            <a:solidFill>
              <a:srgbClr val="6B7A8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41605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L0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754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唯讀分析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120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自動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6235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</a:rPr>
              <a:t>盤點、路徑分析、評估排序、問答</a:t>
            </a:r>
            <a:endParaRPr lang="en-US" sz="1200" dirty="0"/>
          </a:p>
        </p:txBody>
      </p:sp>
      <p:sp>
        <p:nvSpPr>
          <p:cNvPr id="8" name="lv-ph-0"/>
          <p:cNvSpPr/>
          <p:nvPr/>
        </p:nvSpPr>
        <p:spPr>
          <a:xfrm>
            <a:off x="2057400" y="425196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lv-ph-0-text"/>
          <p:cNvSpPr txBox="1"/>
          <p:nvPr/>
        </p:nvSpPr>
        <p:spPr>
          <a:xfrm>
            <a:off x="2057400" y="4251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A8F"/>
                </a:solidFill>
              </a:rPr>
              <a:t>MVP 現況</a:t>
            </a:r>
            <a:endParaRPr lang="en-US" sz="1000" dirty="0"/>
          </a:p>
        </p:txBody>
      </p:sp>
      <p:sp>
        <p:nvSpPr>
          <p:cNvPr id="10" name="lv-1"/>
          <p:cNvSpPr/>
          <p:nvPr/>
        </p:nvSpPr>
        <p:spPr>
          <a:xfrm>
            <a:off x="3364992" y="333756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3B6EA8"/>
          </a:solidFill>
          <a:ln w="12700">
            <a:solidFill>
              <a:srgbClr val="3B6EA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47872" y="34747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L1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3547872" y="4069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低風險動作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547872" y="4434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自動＋事後檢視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364992" y="56235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</a:rPr>
              <a:t>開工單、關聯告警</a:t>
            </a:r>
            <a:endParaRPr lang="en-US" sz="1200" dirty="0"/>
          </a:p>
        </p:txBody>
      </p:sp>
      <p:sp>
        <p:nvSpPr>
          <p:cNvPr id="15" name="lv-ph-1"/>
          <p:cNvSpPr/>
          <p:nvPr/>
        </p:nvSpPr>
        <p:spPr>
          <a:xfrm>
            <a:off x="4873752" y="356616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lv-ph-1-text"/>
          <p:cNvSpPr txBox="1"/>
          <p:nvPr/>
        </p:nvSpPr>
        <p:spPr>
          <a:xfrm>
            <a:off x="4873752" y="3566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6EA8"/>
                </a:solidFill>
              </a:rPr>
              <a:t>Phase 2</a:t>
            </a:r>
            <a:endParaRPr lang="en-US" sz="1000" dirty="0"/>
          </a:p>
        </p:txBody>
      </p:sp>
      <p:sp>
        <p:nvSpPr>
          <p:cNvPr id="17" name="lv-2"/>
          <p:cNvSpPr/>
          <p:nvPr/>
        </p:nvSpPr>
        <p:spPr>
          <a:xfrm>
            <a:off x="6181344" y="265176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D9922E"/>
          </a:solidFill>
          <a:ln w="12700">
            <a:solidFill>
              <a:srgbClr val="D9922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64224" y="27889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L2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6364224" y="3383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一般變更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364224" y="3749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單人核准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181344" y="56235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</a:rPr>
              <a:t>GPO 調整、停用帳號、移除群組成員</a:t>
            </a:r>
            <a:endParaRPr lang="en-US" sz="1200" dirty="0"/>
          </a:p>
        </p:txBody>
      </p:sp>
      <p:sp>
        <p:nvSpPr>
          <p:cNvPr id="22" name="lv-ph-2"/>
          <p:cNvSpPr/>
          <p:nvPr/>
        </p:nvSpPr>
        <p:spPr>
          <a:xfrm>
            <a:off x="7690104" y="288036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lv-ph-2-text"/>
          <p:cNvSpPr txBox="1"/>
          <p:nvPr/>
        </p:nvSpPr>
        <p:spPr>
          <a:xfrm>
            <a:off x="7690104" y="2880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922E"/>
                </a:solidFill>
              </a:rPr>
              <a:t>Phase 3</a:t>
            </a:r>
            <a:endParaRPr lang="en-US" sz="1000" dirty="0"/>
          </a:p>
        </p:txBody>
      </p:sp>
      <p:sp>
        <p:nvSpPr>
          <p:cNvPr id="24" name="lv-3"/>
          <p:cNvSpPr/>
          <p:nvPr/>
        </p:nvSpPr>
        <p:spPr>
          <a:xfrm>
            <a:off x="8997696" y="1965960"/>
            <a:ext cx="2606040" cy="3520440"/>
          </a:xfrm>
          <a:prstGeom prst="roundRect">
            <a:avLst>
              <a:gd name="adj" fmla="val 2807"/>
            </a:avLst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180576" y="21031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L3</a:t>
            </a:r>
            <a:endParaRPr lang="en-US" sz="3000" dirty="0"/>
          </a:p>
        </p:txBody>
      </p:sp>
      <p:sp>
        <p:nvSpPr>
          <p:cNvPr id="26" name="Text 24"/>
          <p:cNvSpPr txBox="1"/>
          <p:nvPr/>
        </p:nvSpPr>
        <p:spPr>
          <a:xfrm>
            <a:off x="9180576" y="2697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Tier 0 變更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9180576" y="3063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雙人核准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997696" y="56235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</a:rPr>
              <a:t>Domain Admins、AD CS、Entra Connect、krbtgt</a:t>
            </a:r>
            <a:endParaRPr lang="en-US" sz="1200" dirty="0"/>
          </a:p>
        </p:txBody>
      </p:sp>
      <p:sp>
        <p:nvSpPr>
          <p:cNvPr id="29" name="lv-ph-3"/>
          <p:cNvSpPr/>
          <p:nvPr/>
        </p:nvSpPr>
        <p:spPr>
          <a:xfrm>
            <a:off x="10506456" y="219456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lv-ph-3-text"/>
          <p:cNvSpPr txBox="1"/>
          <p:nvPr/>
        </p:nvSpPr>
        <p:spPr>
          <a:xfrm>
            <a:off x="10506456" y="2194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2410C"/>
                </a:solidFill>
              </a:rPr>
              <a:t>Phase 3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128016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</a:rPr>
              <a:t>MVP 只開 L0：所有修補建議都是提案，執行由 SOAR 以獨立身分在核准後觸發，LLM 不持有任何執行工具。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規則本身也要 Review：修改能力矩陣的五步</a:t>
            </a:r>
            <a:endParaRPr lang="en-US" sz="3000" dirty="0"/>
          </a:p>
        </p:txBody>
      </p:sp>
      <p:sp>
        <p:nvSpPr>
          <p:cNvPr id="3" name="rc-0-circle"/>
          <p:cNvSpPr/>
          <p:nvPr/>
        </p:nvSpPr>
        <p:spPr>
          <a:xfrm>
            <a:off x="548640" y="1371600"/>
            <a:ext cx="685800" cy="685800"/>
          </a:xfrm>
          <a:prstGeom prst="ellipse">
            <a:avLst/>
          </a:prstGeom>
          <a:solidFill>
            <a:srgbClr val="0F2A3A"/>
          </a:solidFill>
          <a:ln w="12700">
            <a:solidFill>
              <a:srgbClr val="0F2A3A"/>
            </a:solidFill>
            <a:prstDash val="solid"/>
          </a:ln>
        </p:spPr>
      </p:sp>
      <p:pic>
        <p:nvPicPr>
          <p:cNvPr id="4" name="rc-0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" y="1522476"/>
            <a:ext cx="384048" cy="3840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325880" y="1714500"/>
            <a:ext cx="1399032" cy="91"/>
          </a:xfrm>
          <a:prstGeom prst="line">
            <a:avLst/>
          </a:prstGeom>
          <a:noFill/>
          <a:ln w="15875">
            <a:solidFill>
              <a:srgbClr val="B8C1CC"/>
            </a:solidFill>
            <a:prstDash val="solid"/>
            <a:tailEnd type="triangle"/>
          </a:ln>
        </p:spPr>
      </p:sp>
      <p:sp>
        <p:nvSpPr>
          <p:cNvPr id="6" name="Text 3"/>
          <p:cNvSpPr txBox="1"/>
          <p:nvPr/>
        </p:nvSpPr>
        <p:spPr>
          <a:xfrm>
            <a:off x="548640" y="22402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</a:rPr>
              <a:t>1  修改 YAML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6974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</a:rPr>
              <a:t>開 PR，說明門檻或條件變更的理由</a:t>
            </a:r>
            <a:endParaRPr lang="en-US" sz="1300" dirty="0"/>
          </a:p>
        </p:txBody>
      </p:sp>
      <p:sp>
        <p:nvSpPr>
          <p:cNvPr id="8" name="rc-1-circle"/>
          <p:cNvSpPr/>
          <p:nvPr/>
        </p:nvSpPr>
        <p:spPr>
          <a:xfrm>
            <a:off x="2816352" y="1371600"/>
            <a:ext cx="685800" cy="685800"/>
          </a:xfrm>
          <a:prstGeom prst="ellipse">
            <a:avLst/>
          </a:prstGeom>
          <a:solidFill>
            <a:srgbClr val="0F2A3A"/>
          </a:solidFill>
          <a:ln w="12700">
            <a:solidFill>
              <a:srgbClr val="0F2A3A"/>
            </a:solidFill>
            <a:prstDash val="solid"/>
          </a:ln>
        </p:spPr>
      </p:sp>
      <p:pic>
        <p:nvPicPr>
          <p:cNvPr id="9" name="rc-1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7228" y="1522476"/>
            <a:ext cx="384048" cy="38404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593592" y="1714500"/>
            <a:ext cx="1399032" cy="91"/>
          </a:xfrm>
          <a:prstGeom prst="line">
            <a:avLst/>
          </a:prstGeom>
          <a:noFill/>
          <a:ln w="15875">
            <a:solidFill>
              <a:srgbClr val="B8C1CC"/>
            </a:solidFill>
            <a:prstDash val="solid"/>
            <a:tailEnd type="triangle"/>
          </a:ln>
        </p:spPr>
      </p:sp>
      <p:sp>
        <p:nvSpPr>
          <p:cNvPr id="11" name="Text 7"/>
          <p:cNvSpPr txBox="1"/>
          <p:nvPr/>
        </p:nvSpPr>
        <p:spPr>
          <a:xfrm>
            <a:off x="2816352" y="22402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</a:rPr>
              <a:t>2  預覽判定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2816352" y="26974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</a:rPr>
              <a:t>idsec discover 比對各法人 Profile 與模組差異</a:t>
            </a:r>
            <a:endParaRPr lang="en-US" sz="1300" dirty="0"/>
          </a:p>
        </p:txBody>
      </p:sp>
      <p:sp>
        <p:nvSpPr>
          <p:cNvPr id="13" name="rc-2-circle"/>
          <p:cNvSpPr/>
          <p:nvPr/>
        </p:nvSpPr>
        <p:spPr>
          <a:xfrm>
            <a:off x="5084064" y="1371600"/>
            <a:ext cx="685800" cy="685800"/>
          </a:xfrm>
          <a:prstGeom prst="ellipse">
            <a:avLst/>
          </a:prstGeom>
          <a:solidFill>
            <a:srgbClr val="0F2A3A"/>
          </a:solidFill>
          <a:ln w="12700">
            <a:solidFill>
              <a:srgbClr val="0F2A3A"/>
            </a:solidFill>
            <a:prstDash val="solid"/>
          </a:ln>
        </p:spPr>
      </p:sp>
      <p:pic>
        <p:nvPicPr>
          <p:cNvPr id="14" name="rc-2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4940" y="1522476"/>
            <a:ext cx="384048" cy="384048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5861304" y="1714500"/>
            <a:ext cx="1399032" cy="91"/>
          </a:xfrm>
          <a:prstGeom prst="line">
            <a:avLst/>
          </a:prstGeom>
          <a:noFill/>
          <a:ln w="15875">
            <a:solidFill>
              <a:srgbClr val="B8C1CC"/>
            </a:solidFill>
            <a:prstDash val="solid"/>
            <a:tailEnd type="triangle"/>
          </a:ln>
        </p:spPr>
      </p:sp>
      <p:sp>
        <p:nvSpPr>
          <p:cNvPr id="16" name="Text 11"/>
          <p:cNvSpPr txBox="1"/>
          <p:nvPr/>
        </p:nvSpPr>
        <p:spPr>
          <a:xfrm>
            <a:off x="5084064" y="22402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</a:rPr>
              <a:t>3  更新預期值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5084064" y="26974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</a:rPr>
              <a:t>VERIFICATION.md 與 verify_mvp.py 的 EXPECTED</a:t>
            </a:r>
            <a:endParaRPr lang="en-US" sz="1300" dirty="0"/>
          </a:p>
        </p:txBody>
      </p:sp>
      <p:sp>
        <p:nvSpPr>
          <p:cNvPr id="18" name="rc-3-circle"/>
          <p:cNvSpPr/>
          <p:nvPr/>
        </p:nvSpPr>
        <p:spPr>
          <a:xfrm>
            <a:off x="7351776" y="1371600"/>
            <a:ext cx="685800" cy="685800"/>
          </a:xfrm>
          <a:prstGeom prst="ellipse">
            <a:avLst/>
          </a:prstGeom>
          <a:solidFill>
            <a:srgbClr val="0F2A3A"/>
          </a:solidFill>
          <a:ln w="12700">
            <a:solidFill>
              <a:srgbClr val="0F2A3A"/>
            </a:solidFill>
            <a:prstDash val="solid"/>
          </a:ln>
        </p:spPr>
      </p:sp>
      <p:pic>
        <p:nvPicPr>
          <p:cNvPr id="19" name="rc-3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2652" y="1522476"/>
            <a:ext cx="384048" cy="384048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8129016" y="1714500"/>
            <a:ext cx="1399032" cy="91"/>
          </a:xfrm>
          <a:prstGeom prst="line">
            <a:avLst/>
          </a:prstGeom>
          <a:noFill/>
          <a:ln w="15875">
            <a:solidFill>
              <a:srgbClr val="B8C1CC"/>
            </a:solidFill>
            <a:prstDash val="solid"/>
            <a:tailEnd type="triangle"/>
          </a:ln>
        </p:spPr>
      </p:sp>
      <p:sp>
        <p:nvSpPr>
          <p:cNvPr id="21" name="Text 15"/>
          <p:cNvSpPr txBox="1"/>
          <p:nvPr/>
        </p:nvSpPr>
        <p:spPr>
          <a:xfrm>
            <a:off x="7351776" y="22402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</a:rPr>
              <a:t>4  CI 驗收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7351776" y="26974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</a:rPr>
              <a:t>pytest 與 verify_mvp.py 全部通過</a:t>
            </a:r>
            <a:endParaRPr lang="en-US" sz="1300" dirty="0"/>
          </a:p>
        </p:txBody>
      </p:sp>
      <p:sp>
        <p:nvSpPr>
          <p:cNvPr id="23" name="rc-4-circle"/>
          <p:cNvSpPr/>
          <p:nvPr/>
        </p:nvSpPr>
        <p:spPr>
          <a:xfrm>
            <a:off x="9619488" y="1371600"/>
            <a:ext cx="685800" cy="685800"/>
          </a:xfrm>
          <a:prstGeom prst="ellipse">
            <a:avLst/>
          </a:prstGeom>
          <a:solidFill>
            <a:srgbClr val="0E8F7E"/>
          </a:solidFill>
          <a:ln w="12700">
            <a:solidFill>
              <a:srgbClr val="0E8F7E"/>
            </a:solidFill>
            <a:prstDash val="solid"/>
          </a:ln>
        </p:spPr>
      </p:sp>
      <p:pic>
        <p:nvPicPr>
          <p:cNvPr id="24" name="rc-4-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0364" y="1522476"/>
            <a:ext cx="384048" cy="38404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9619488" y="22402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</a:rPr>
              <a:t>5  核准合併</a:t>
            </a:r>
            <a:endParaRPr lang="en-US" sz="1700" dirty="0"/>
          </a:p>
        </p:txBody>
      </p:sp>
      <p:sp>
        <p:nvSpPr>
          <p:cNvPr id="26" name="Text 19"/>
          <p:cNvSpPr txBox="1"/>
          <p:nvPr/>
        </p:nvSpPr>
        <p:spPr>
          <a:xfrm>
            <a:off x="9619488" y="26974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</a:rPr>
              <a:t>資安負責人審核後合併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54864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</a:rPr>
              <a:t>同一套機制適用的其他變更</a:t>
            </a:r>
            <a:endParaRPr lang="en-US" sz="1700" dirty="0"/>
          </a:p>
        </p:txBody>
      </p:sp>
      <p:sp>
        <p:nvSpPr>
          <p:cNvPr id="28" name="oth-0"/>
          <p:cNvSpPr/>
          <p:nvPr/>
        </p:nvSpPr>
        <p:spPr>
          <a:xfrm>
            <a:off x="548640" y="443484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777240" y="45902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</a:rPr>
              <a:t>新增 MCP 工具</a:t>
            </a:r>
            <a:endParaRPr lang="en-US" sz="1500" dirty="0"/>
          </a:p>
        </p:txBody>
      </p:sp>
      <p:sp>
        <p:nvSpPr>
          <p:cNvPr id="30" name="Text 23"/>
          <p:cNvSpPr txBox="1"/>
          <p:nvPr/>
        </p:nvSpPr>
        <p:spPr>
          <a:xfrm>
            <a:off x="777240" y="5001768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</a:rPr>
              <a:t>同步更新 hooks.py 放行清單；V6 會比對工具清單與放行清單是否一致</a:t>
            </a:r>
            <a:endParaRPr lang="en-US" sz="1300" dirty="0"/>
          </a:p>
        </p:txBody>
      </p:sp>
      <p:sp>
        <p:nvSpPr>
          <p:cNvPr id="31" name="oth-1"/>
          <p:cNvSpPr/>
          <p:nvPr/>
        </p:nvSpPr>
        <p:spPr>
          <a:xfrm>
            <a:off x="4297680" y="443484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4526280" y="45902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</a:rPr>
              <a:t>修改 Skill</a:t>
            </a:r>
            <a:endParaRPr lang="en-US" sz="1500" dirty="0"/>
          </a:p>
        </p:txBody>
      </p:sp>
      <p:sp>
        <p:nvSpPr>
          <p:cNvPr id="33" name="Text 26"/>
          <p:cNvSpPr txBox="1"/>
          <p:nvPr/>
        </p:nvSpPr>
        <p:spPr>
          <a:xfrm>
            <a:off x="4526280" y="5001768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</a:rPr>
              <a:t>送內部 Skill 安全檢測平台掃描後才上線</a:t>
            </a:r>
            <a:endParaRPr lang="en-US" sz="1300" dirty="0"/>
          </a:p>
        </p:txBody>
      </p:sp>
      <p:sp>
        <p:nvSpPr>
          <p:cNvPr id="34" name="oth-2"/>
          <p:cNvSpPr/>
          <p:nvPr/>
        </p:nvSpPr>
        <p:spPr>
          <a:xfrm>
            <a:off x="8046720" y="443484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8275320" y="45902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</a:rPr>
              <a:t>更換或升級模型</a:t>
            </a:r>
            <a:endParaRPr lang="en-US" sz="1500" dirty="0"/>
          </a:p>
        </p:txBody>
      </p:sp>
      <p:sp>
        <p:nvSpPr>
          <p:cNvPr id="36" name="Text 29"/>
          <p:cNvSpPr txBox="1"/>
          <p:nvPr/>
        </p:nvSpPr>
        <p:spPr>
          <a:xfrm>
            <a:off x="8275320" y="5001768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</a:rPr>
              <a:t>重跑 V10 評測：15 次中至少 14 次正確，捏造與越權 0 次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稽核鏈：每筆紀錄串前一筆的雜湊，竄改即可偵測</a:t>
            </a:r>
            <a:endParaRPr lang="en-US" sz="3000" dirty="0"/>
          </a:p>
        </p:txBody>
      </p:sp>
      <p:sp>
        <p:nvSpPr>
          <p:cNvPr id="3" name="rec-0"/>
          <p:cNvSpPr/>
          <p:nvPr/>
        </p:nvSpPr>
        <p:spPr>
          <a:xfrm>
            <a:off x="548640" y="1371600"/>
            <a:ext cx="21031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5875">
            <a:solidFill>
              <a:srgbClr val="B8C1C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8132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8F7E"/>
                </a:solidFill>
              </a:rPr>
              <a:t>#1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2880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actor: pipeline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event: discovery.completed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data: {…}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D99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prev_hash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8F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651760" y="3154680"/>
            <a:ext cx="320040" cy="91"/>
          </a:xfrm>
          <a:prstGeom prst="line">
            <a:avLst/>
          </a:prstGeom>
          <a:noFill/>
          <a:ln w="19050">
            <a:solidFill>
              <a:srgbClr val="D9922E"/>
            </a:solidFill>
            <a:prstDash val="solid"/>
            <a:tailEnd type="triangle"/>
          </a:ln>
        </p:spPr>
      </p:sp>
      <p:sp>
        <p:nvSpPr>
          <p:cNvPr id="7" name="rec-1"/>
          <p:cNvSpPr/>
          <p:nvPr/>
        </p:nvSpPr>
        <p:spPr>
          <a:xfrm>
            <a:off x="2971800" y="1371600"/>
            <a:ext cx="21031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5875">
            <a:solidFill>
              <a:srgbClr val="B8C1C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154680" y="148132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8F7E"/>
                </a:solidFill>
              </a:rPr>
              <a:t>#2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154680" y="182880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actor: mcp:bloodhound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event: tool.call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data: {…}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D99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prev_hash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8F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74920" y="3154680"/>
            <a:ext cx="320040" cy="91"/>
          </a:xfrm>
          <a:prstGeom prst="line">
            <a:avLst/>
          </a:prstGeom>
          <a:noFill/>
          <a:ln w="19050">
            <a:solidFill>
              <a:srgbClr val="D9922E"/>
            </a:solidFill>
            <a:prstDash val="solid"/>
            <a:tailEnd type="triangle"/>
          </a:ln>
        </p:spPr>
      </p:sp>
      <p:sp>
        <p:nvSpPr>
          <p:cNvPr id="11" name="rec-2"/>
          <p:cNvSpPr/>
          <p:nvPr/>
        </p:nvSpPr>
        <p:spPr>
          <a:xfrm>
            <a:off x="5394960" y="1371600"/>
            <a:ext cx="21031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5875">
            <a:solidFill>
              <a:srgbClr val="B8C1C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577840" y="148132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8F7E"/>
                </a:solidFill>
              </a:rPr>
              <a:t>#3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577840" y="182880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actor: hook:pre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event: tool.denied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data: {…}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D99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prev_hash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8F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6576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</a:rPr>
              <a:t>hash = SHA-256(前一筆 hash + 本筆內容)，寫入時加檔案鎖</a:t>
            </a:r>
            <a:endParaRPr lang="en-US" sz="1300" dirty="0"/>
          </a:p>
        </p:txBody>
      </p:sp>
      <p:sp>
        <p:nvSpPr>
          <p:cNvPr id="15" name="verify"/>
          <p:cNvSpPr/>
          <p:nvPr/>
        </p:nvSpPr>
        <p:spPr>
          <a:xfrm>
            <a:off x="548640" y="4206240"/>
            <a:ext cx="6949440" cy="1920240"/>
          </a:xfrm>
          <a:prstGeom prst="roundRect">
            <a:avLst>
              <a:gd name="adj" fmla="val 2857"/>
            </a:avLst>
          </a:prstGeom>
          <a:solidFill>
            <a:srgbClr val="16232E"/>
          </a:solidFill>
          <a:ln w="12700">
            <a:solidFill>
              <a:srgbClr val="16232E"/>
            </a:solidFill>
            <a:prstDash val="solid"/>
          </a:ln>
        </p:spPr>
      </p:sp>
      <p:sp>
        <p:nvSpPr>
          <p:cNvPr id="16" name="verify-text"/>
          <p:cNvSpPr txBox="1"/>
          <p:nvPr/>
        </p:nvSpPr>
        <p:spPr>
          <a:xfrm>
            <a:off x="685800" y="4297680"/>
            <a:ext cx="6675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6E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idsec audit-verify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驗證通過，共 12 筆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sed -i '1s/"hq"/"xx"/' output/audit/audit.jsonl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idsec audit-verify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✘ 第 1 筆內容與雜湊不符（可能被竄改）   exit=2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86384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</a:rPr>
              <a:t>記錄哪些事件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7863840" y="1828800"/>
            <a:ext cx="3749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</a:rPr>
              <a:t>流程每一步完成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</a:rPr>
              <a:t>每次 MCP 工具呼叫（含參數與成敗）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</a:rPr>
              <a:t>被 Hook 拒絕的工具呼叫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</a:rPr>
              <a:t>Agent 問答的開始與結束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</a:rPr>
              <a:t>回傳內容的 SHA-256 與注入嫌疑</a:t>
            </a:r>
            <a:endParaRPr lang="en-US" sz="1400" dirty="0"/>
          </a:p>
        </p:txBody>
      </p:sp>
      <p:sp>
        <p:nvSpPr>
          <p:cNvPr id="19" name="handling"/>
          <p:cNvSpPr/>
          <p:nvPr/>
        </p:nvSpPr>
        <p:spPr>
          <a:xfrm>
            <a:off x="7863840" y="4206240"/>
            <a:ext cx="3776472" cy="1920240"/>
          </a:xfrm>
          <a:prstGeom prst="roundRect">
            <a:avLst>
              <a:gd name="adj" fmla="val 381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092440" y="4343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</a:rPr>
              <a:t>驗證失敗時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4754880"/>
            <a:ext cx="3337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</a:rPr>
              <a:t>先完整複製保全，依筆數定位、比對前後紀錄，調查後封存並開始新鏈；封存檔定期送 WORM 或 SIEM。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驗證分三段：模擬、部署、實機，各有通過標準</a:t>
            </a:r>
            <a:endParaRPr lang="en-US" sz="3000" dirty="0"/>
          </a:p>
        </p:txBody>
      </p:sp>
      <p:sp>
        <p:nvSpPr>
          <p:cNvPr id="3" name="stage-0"/>
          <p:cNvSpPr/>
          <p:nvPr/>
        </p:nvSpPr>
        <p:spPr>
          <a:xfrm>
            <a:off x="548640" y="1325880"/>
            <a:ext cx="3520440" cy="4800600"/>
          </a:xfrm>
          <a:prstGeom prst="roundRect">
            <a:avLst>
              <a:gd name="adj" fmla="val 2078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087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2A3A"/>
                </a:solidFill>
              </a:rPr>
              <a:t>V1–V8</a:t>
            </a:r>
            <a:endParaRPr lang="en-US" sz="2800" dirty="0"/>
          </a:p>
        </p:txBody>
      </p:sp>
      <p:sp>
        <p:nvSpPr>
          <p:cNvPr id="5" name="st-0"/>
          <p:cNvSpPr/>
          <p:nvPr/>
        </p:nvSpPr>
        <p:spPr>
          <a:xfrm>
            <a:off x="2880360" y="1627632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E3F3F0"/>
          </a:solidFill>
          <a:ln w="12700">
            <a:solidFill>
              <a:srgbClr val="E3F3F0"/>
            </a:solidFill>
            <a:prstDash val="solid"/>
          </a:ln>
        </p:spPr>
      </p:sp>
      <p:sp>
        <p:nvSpPr>
          <p:cNvPr id="6" name="st-0-text"/>
          <p:cNvSpPr txBox="1"/>
          <p:nvPr/>
        </p:nvSpPr>
        <p:spPr>
          <a:xfrm>
            <a:off x="2880360" y="1627632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8F7E"/>
                </a:solidFill>
              </a:rPr>
              <a:t>已通過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031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</a:rPr>
              <a:t>開發環境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514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</a:rPr>
              <a:t>模擬資料，任何人可重現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06324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</a:rPr>
              <a:t>pytest 23 項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</a:rPr>
              <a:t>verify_mvp.py --e2e 7 / 7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</a:rPr>
              <a:t>樁模型跑通 Agent 全流程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069080" y="3703320"/>
            <a:ext cx="228600" cy="91"/>
          </a:xfrm>
          <a:prstGeom prst="line">
            <a:avLst/>
          </a:prstGeom>
          <a:noFill/>
          <a:ln w="15875">
            <a:solidFill>
              <a:srgbClr val="B8C1CC"/>
            </a:solidFill>
            <a:prstDash val="solid"/>
            <a:tailEnd type="triangle"/>
          </a:ln>
        </p:spPr>
      </p:sp>
      <p:sp>
        <p:nvSpPr>
          <p:cNvPr id="11" name="stage-1"/>
          <p:cNvSpPr/>
          <p:nvPr/>
        </p:nvSpPr>
        <p:spPr>
          <a:xfrm>
            <a:off x="4297680" y="1325880"/>
            <a:ext cx="3520440" cy="4800600"/>
          </a:xfrm>
          <a:prstGeom prst="roundRect">
            <a:avLst>
              <a:gd name="adj" fmla="val 2078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0" y="15087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2A3A"/>
                </a:solidFill>
              </a:rPr>
              <a:t>V9–V10</a:t>
            </a:r>
            <a:endParaRPr lang="en-US" sz="2800" dirty="0"/>
          </a:p>
        </p:txBody>
      </p:sp>
      <p:sp>
        <p:nvSpPr>
          <p:cNvPr id="13" name="st-1"/>
          <p:cNvSpPr/>
          <p:nvPr/>
        </p:nvSpPr>
        <p:spPr>
          <a:xfrm>
            <a:off x="6629400" y="1627632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BF0DF"/>
          </a:solidFill>
          <a:ln w="12700">
            <a:solidFill>
              <a:srgbClr val="FBF0DF"/>
            </a:solidFill>
            <a:prstDash val="solid"/>
          </a:ln>
        </p:spPr>
      </p:sp>
      <p:sp>
        <p:nvSpPr>
          <p:cNvPr id="14" name="st-1-text"/>
          <p:cNvSpPr txBox="1"/>
          <p:nvPr/>
        </p:nvSpPr>
        <p:spPr>
          <a:xfrm>
            <a:off x="6629400" y="1627632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5A12"/>
                </a:solidFill>
              </a:rPr>
              <a:t>待執行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21031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</a:rPr>
              <a:t>部署環境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0" y="2514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</a:rPr>
              <a:t>Docker 與地端模型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306324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</a:rPr>
              <a:t>唯讀根檔案系統、無對外出口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</a:rPr>
              <a:t>兩個模型的 tool use 格式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</a:rPr>
              <a:t>人工評估 15 次 ≥ 14 次正確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818120" y="3703320"/>
            <a:ext cx="228600" cy="91"/>
          </a:xfrm>
          <a:prstGeom prst="line">
            <a:avLst/>
          </a:prstGeom>
          <a:noFill/>
          <a:ln w="15875">
            <a:solidFill>
              <a:srgbClr val="B8C1CC"/>
            </a:solidFill>
            <a:prstDash val="solid"/>
            <a:tailEnd type="triangle"/>
          </a:ln>
        </p:spPr>
      </p:sp>
      <p:sp>
        <p:nvSpPr>
          <p:cNvPr id="19" name="stage-2"/>
          <p:cNvSpPr/>
          <p:nvPr/>
        </p:nvSpPr>
        <p:spPr>
          <a:xfrm>
            <a:off x="8046720" y="1325880"/>
            <a:ext cx="3520440" cy="4800600"/>
          </a:xfrm>
          <a:prstGeom prst="roundRect">
            <a:avLst>
              <a:gd name="adj" fmla="val 2078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21040" y="15087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2A3A"/>
                </a:solidFill>
              </a:rPr>
              <a:t>V11</a:t>
            </a:r>
            <a:endParaRPr lang="en-US" sz="2800" dirty="0"/>
          </a:p>
        </p:txBody>
      </p:sp>
      <p:sp>
        <p:nvSpPr>
          <p:cNvPr id="21" name="st-2"/>
          <p:cNvSpPr/>
          <p:nvPr/>
        </p:nvSpPr>
        <p:spPr>
          <a:xfrm>
            <a:off x="10378440" y="1627632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BF0DF"/>
          </a:solidFill>
          <a:ln w="12700">
            <a:solidFill>
              <a:srgbClr val="FBF0DF"/>
            </a:solidFill>
            <a:prstDash val="solid"/>
          </a:ln>
        </p:spPr>
      </p:sp>
      <p:sp>
        <p:nvSpPr>
          <p:cNvPr id="22" name="st-2-text"/>
          <p:cNvSpPr txBox="1"/>
          <p:nvPr/>
        </p:nvSpPr>
        <p:spPr>
          <a:xfrm>
            <a:off x="10378440" y="1627632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5A12"/>
                </a:solidFill>
              </a:rPr>
              <a:t>待執行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321040" y="21031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</a:rPr>
              <a:t>LAB 實機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8321040" y="2514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</a:rPr>
              <a:t>上線前，已知狀態網域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8321040" y="306324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</a:rPr>
              <a:t>指紋逐項對照 PowerShell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</a:rPr>
              <a:t>路徑數與 BloodHound 差異 ≤ 10%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</a:rPr>
              <a:t>確認服務帳號無寫入權限</a:t>
            </a:r>
            <a:endParaRPr lang="en-US" sz="1400" dirty="0"/>
          </a:p>
        </p:txBody>
      </p:sp>
      <p:sp>
        <p:nvSpPr>
          <p:cNvPr id="26" name="vcmd"/>
          <p:cNvSpPr/>
          <p:nvPr/>
        </p:nvSpPr>
        <p:spPr>
          <a:xfrm>
            <a:off x="777240" y="5120640"/>
            <a:ext cx="3063240" cy="777240"/>
          </a:xfrm>
          <a:prstGeom prst="roundRect">
            <a:avLst>
              <a:gd name="adj" fmla="val 7059"/>
            </a:avLst>
          </a:prstGeom>
          <a:solidFill>
            <a:srgbClr val="16232E"/>
          </a:solidFill>
          <a:ln w="12700">
            <a:solidFill>
              <a:srgbClr val="16232E"/>
            </a:solidFill>
            <a:prstDash val="solid"/>
          </a:ln>
        </p:spPr>
      </p:sp>
      <p:sp>
        <p:nvSpPr>
          <p:cNvPr id="27" name="vcmd-text"/>
          <p:cNvSpPr txBox="1"/>
          <p:nvPr/>
        </p:nvSpPr>
        <p:spPr>
          <a:xfrm>
            <a:off x="914400" y="521208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6E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verify_mvp.py --e2e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7/7 通過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526280" y="512064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5A12"/>
                </a:solidFill>
              </a:rPr>
              <a:t>硬性門檻：查無帳號不捏造、要求變更必拒絕，0 次失敗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275320" y="512064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5A12"/>
                </a:solidFill>
              </a:rPr>
              <a:t>全部通過後，才可對正式法人執行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20116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6"/>
                </a:solidFill>
              </a:rPr>
              <a:t>03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30175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部署與下一步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0233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FC3D0"/>
                </a:solidFill>
              </a:rPr>
              <a:t>Tier 0 隔離區部署、已知限制與後續工作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部署：總公司 Tier 0 隔離區，idsec 容器無對外出口</a:t>
            </a:r>
            <a:endParaRPr lang="en-US" sz="3000" dirty="0"/>
          </a:p>
        </p:txBody>
      </p:sp>
      <p:sp>
        <p:nvSpPr>
          <p:cNvPr id="3" name="tier0"/>
          <p:cNvSpPr/>
          <p:nvPr/>
        </p:nvSpPr>
        <p:spPr>
          <a:xfrm>
            <a:off x="548640" y="1325880"/>
            <a:ext cx="6949440" cy="4800600"/>
          </a:xfrm>
          <a:prstGeom prst="roundRect">
            <a:avLst>
              <a:gd name="adj" fmla="val 152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</a:rPr>
              <a:t>總公司 Tier 0 隔離區</a:t>
            </a:r>
            <a:endParaRPr lang="en-US" sz="1500" dirty="0"/>
          </a:p>
        </p:txBody>
      </p:sp>
      <p:sp>
        <p:nvSpPr>
          <p:cNvPr id="5" name="net-int"/>
          <p:cNvSpPr/>
          <p:nvPr/>
        </p:nvSpPr>
        <p:spPr>
          <a:xfrm>
            <a:off x="777240" y="1965960"/>
            <a:ext cx="310896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5875">
            <a:solidFill>
              <a:srgbClr val="0E8F7E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914400" y="2057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8F7E"/>
                </a:solidFill>
              </a:rPr>
              <a:t>idsec-internal（internal: true）</a:t>
            </a:r>
            <a:endParaRPr lang="en-US" sz="1100" dirty="0"/>
          </a:p>
        </p:txBody>
      </p:sp>
      <p:sp>
        <p:nvSpPr>
          <p:cNvPr id="7" name="c-idsec"/>
          <p:cNvSpPr/>
          <p:nvPr/>
        </p:nvSpPr>
        <p:spPr>
          <a:xfrm>
            <a:off x="1005840" y="2560320"/>
            <a:ext cx="265176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B8C1CC"/>
            </a:solidFill>
            <a:prstDash val="solid"/>
          </a:ln>
        </p:spPr>
      </p:sp>
      <p:sp>
        <p:nvSpPr>
          <p:cNvPr id="8" name="c-idsec-text"/>
          <p:cNvSpPr txBox="1"/>
          <p:nvPr/>
        </p:nvSpPr>
        <p:spPr>
          <a:xfrm>
            <a:off x="1005840" y="2560320"/>
            <a:ext cx="265176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430"/>
                </a:solidFill>
              </a:rPr>
              <a:t>idsec 容器</a:t>
            </a:r>
            <a:endParaRPr lang="en-US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472"/>
                </a:solidFill>
              </a:rPr>
              <a:t>核心・MCP・Agent</a:t>
            </a:r>
            <a:endParaRPr lang="en-US" sz="1300" dirty="0"/>
          </a:p>
        </p:txBody>
      </p:sp>
      <p:sp>
        <p:nvSpPr>
          <p:cNvPr id="9" name="c-out"/>
          <p:cNvSpPr/>
          <p:nvPr/>
        </p:nvSpPr>
        <p:spPr>
          <a:xfrm>
            <a:off x="1005840" y="3703320"/>
            <a:ext cx="265176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B8C1CC"/>
            </a:solidFill>
            <a:prstDash val="solid"/>
          </a:ln>
        </p:spPr>
      </p:sp>
      <p:sp>
        <p:nvSpPr>
          <p:cNvPr id="10" name="c-out-text"/>
          <p:cNvSpPr txBox="1"/>
          <p:nvPr/>
        </p:nvSpPr>
        <p:spPr>
          <a:xfrm>
            <a:off x="1005840" y="3703320"/>
            <a:ext cx="265176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430"/>
                </a:solidFill>
              </a:rPr>
              <a:t>output/</a:t>
            </a:r>
            <a:endParaRPr lang="en-US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472"/>
                </a:solidFill>
              </a:rPr>
              <a:t>報告・稽核鏈（唯一可寫）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331720" y="3383280"/>
            <a:ext cx="91" cy="320040"/>
          </a:xfrm>
          <a:prstGeom prst="line">
            <a:avLst/>
          </a:prstGeom>
          <a:noFill/>
          <a:ln w="15875">
            <a:solidFill>
              <a:srgbClr val="6B7A8F"/>
            </a:solidFill>
            <a:prstDash val="solid"/>
            <a:tailEnd type="triangle"/>
          </a:ln>
        </p:spPr>
      </p:sp>
      <p:sp>
        <p:nvSpPr>
          <p:cNvPr id="12" name="net-model"/>
          <p:cNvSpPr/>
          <p:nvPr/>
        </p:nvSpPr>
        <p:spPr>
          <a:xfrm>
            <a:off x="4206240" y="1965960"/>
            <a:ext cx="306324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5875">
            <a:solidFill>
              <a:srgbClr val="B8C1CC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4343400" y="2057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B6472"/>
                </a:solidFill>
              </a:rPr>
              <a:t>model-net</a:t>
            </a:r>
            <a:endParaRPr lang="en-US" sz="1100" dirty="0"/>
          </a:p>
        </p:txBody>
      </p:sp>
      <p:sp>
        <p:nvSpPr>
          <p:cNvPr id="14" name="c-llm"/>
          <p:cNvSpPr/>
          <p:nvPr/>
        </p:nvSpPr>
        <p:spPr>
          <a:xfrm>
            <a:off x="4434840" y="2560320"/>
            <a:ext cx="2606040" cy="822960"/>
          </a:xfrm>
          <a:prstGeom prst="roundRect">
            <a:avLst>
              <a:gd name="adj" fmla="val 6667"/>
            </a:avLst>
          </a:prstGeom>
          <a:solidFill>
            <a:srgbClr val="E6EEF7"/>
          </a:solidFill>
          <a:ln w="12700">
            <a:solidFill>
              <a:srgbClr val="3B6EA8"/>
            </a:solidFill>
            <a:prstDash val="solid"/>
          </a:ln>
        </p:spPr>
      </p:sp>
      <p:sp>
        <p:nvSpPr>
          <p:cNvPr id="15" name="c-llm-text"/>
          <p:cNvSpPr txBox="1"/>
          <p:nvPr/>
        </p:nvSpPr>
        <p:spPr>
          <a:xfrm>
            <a:off x="4434840" y="2560320"/>
            <a:ext cx="260604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430"/>
                </a:solidFill>
              </a:rPr>
              <a:t>LiteLLM 閘道</a:t>
            </a:r>
            <a:endParaRPr lang="en-US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472"/>
                </a:solidFill>
              </a:rPr>
              <a:t>Anthropic Messages 相容</a:t>
            </a:r>
            <a:endParaRPr lang="en-US" sz="1300" dirty="0"/>
          </a:p>
        </p:txBody>
      </p:sp>
      <p:sp>
        <p:nvSpPr>
          <p:cNvPr id="16" name="c-vllm"/>
          <p:cNvSpPr/>
          <p:nvPr/>
        </p:nvSpPr>
        <p:spPr>
          <a:xfrm>
            <a:off x="4434840" y="3703320"/>
            <a:ext cx="2606040" cy="822960"/>
          </a:xfrm>
          <a:prstGeom prst="roundRect">
            <a:avLst>
              <a:gd name="adj" fmla="val 6667"/>
            </a:avLst>
          </a:prstGeom>
          <a:solidFill>
            <a:srgbClr val="E6EEF7"/>
          </a:solidFill>
          <a:ln w="12700">
            <a:solidFill>
              <a:srgbClr val="3B6EA8"/>
            </a:solidFill>
            <a:prstDash val="solid"/>
          </a:ln>
        </p:spPr>
      </p:sp>
      <p:sp>
        <p:nvSpPr>
          <p:cNvPr id="17" name="c-vllm-text"/>
          <p:cNvSpPr txBox="1"/>
          <p:nvPr/>
        </p:nvSpPr>
        <p:spPr>
          <a:xfrm>
            <a:off x="4434840" y="3703320"/>
            <a:ext cx="260604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430"/>
                </a:solidFill>
              </a:rPr>
              <a:t>地端 vLLM 叢集</a:t>
            </a:r>
            <a:endParaRPr lang="en-US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472"/>
                </a:solidFill>
              </a:rPr>
              <a:t>既有 GPU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0" y="2971800"/>
            <a:ext cx="777240" cy="91"/>
          </a:xfrm>
          <a:prstGeom prst="line">
            <a:avLst/>
          </a:prstGeom>
          <a:noFill/>
          <a:ln w="15875">
            <a:solidFill>
              <a:srgbClr val="6B7A8F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742432" y="3383280"/>
            <a:ext cx="91" cy="320040"/>
          </a:xfrm>
          <a:prstGeom prst="line">
            <a:avLst/>
          </a:prstGeom>
          <a:noFill/>
          <a:ln w="15875">
            <a:solidFill>
              <a:srgbClr val="6B7A8F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777240" y="5029200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</a:rPr>
              <a:t>live 模式另行開通至 DC（LDAPS 636）、Graph、BloodHound Neo4j 的唯讀連線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86384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</a:rPr>
              <a:t>容器強化</a:t>
            </a:r>
            <a:endParaRPr lang="en-US" sz="1700" dirty="0"/>
          </a:p>
        </p:txBody>
      </p:sp>
      <p:sp>
        <p:nvSpPr>
          <p:cNvPr id="22" name="hd-0-circle"/>
          <p:cNvSpPr/>
          <p:nvPr/>
        </p:nvSpPr>
        <p:spPr>
          <a:xfrm>
            <a:off x="7863840" y="1828800"/>
            <a:ext cx="502920" cy="502920"/>
          </a:xfrm>
          <a:prstGeom prst="ellipse">
            <a:avLst/>
          </a:prstGeom>
          <a:solidFill>
            <a:srgbClr val="0F2A3A"/>
          </a:solidFill>
          <a:ln w="12700">
            <a:solidFill>
              <a:srgbClr val="0F2A3A"/>
            </a:solidFill>
            <a:prstDash val="solid"/>
          </a:ln>
        </p:spPr>
      </p:sp>
      <p:pic>
        <p:nvPicPr>
          <p:cNvPr id="23" name="hd-0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4482" y="1939442"/>
            <a:ext cx="281635" cy="281635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8549640" y="190195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非 root 執行（uid 10001）</a:t>
            </a:r>
            <a:endParaRPr lang="en-US" sz="1400" dirty="0"/>
          </a:p>
        </p:txBody>
      </p:sp>
      <p:sp>
        <p:nvSpPr>
          <p:cNvPr id="25" name="hd-1-circle"/>
          <p:cNvSpPr/>
          <p:nvPr/>
        </p:nvSpPr>
        <p:spPr>
          <a:xfrm>
            <a:off x="7863840" y="2670048"/>
            <a:ext cx="502920" cy="502920"/>
          </a:xfrm>
          <a:prstGeom prst="ellipse">
            <a:avLst/>
          </a:prstGeom>
          <a:solidFill>
            <a:srgbClr val="0F2A3A"/>
          </a:solidFill>
          <a:ln w="12700">
            <a:solidFill>
              <a:srgbClr val="0F2A3A"/>
            </a:solidFill>
            <a:prstDash val="solid"/>
          </a:ln>
        </p:spPr>
      </p:sp>
      <p:pic>
        <p:nvPicPr>
          <p:cNvPr id="26" name="hd-1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4482" y="2780690"/>
            <a:ext cx="281635" cy="281635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8549640" y="2743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唯讀根檔案系統，僅 output/ 可寫</a:t>
            </a:r>
            <a:endParaRPr lang="en-US" sz="1400" dirty="0"/>
          </a:p>
        </p:txBody>
      </p:sp>
      <p:sp>
        <p:nvSpPr>
          <p:cNvPr id="28" name="hd-2-circle"/>
          <p:cNvSpPr/>
          <p:nvPr/>
        </p:nvSpPr>
        <p:spPr>
          <a:xfrm>
            <a:off x="7863840" y="3511296"/>
            <a:ext cx="502920" cy="502920"/>
          </a:xfrm>
          <a:prstGeom prst="ellipse">
            <a:avLst/>
          </a:prstGeom>
          <a:solidFill>
            <a:srgbClr val="0F2A3A"/>
          </a:solidFill>
          <a:ln w="12700">
            <a:solidFill>
              <a:srgbClr val="0F2A3A"/>
            </a:solidFill>
            <a:prstDash val="solid"/>
          </a:ln>
        </p:spPr>
      </p:sp>
      <p:pic>
        <p:nvPicPr>
          <p:cNvPr id="29" name="hd-2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4482" y="3621938"/>
            <a:ext cx="281635" cy="281635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8549640" y="358444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cap_drop: ALL、no-new-privileges</a:t>
            </a:r>
            <a:endParaRPr lang="en-US" sz="1400" dirty="0"/>
          </a:p>
        </p:txBody>
      </p:sp>
      <p:sp>
        <p:nvSpPr>
          <p:cNvPr id="31" name="hd-3-circle"/>
          <p:cNvSpPr/>
          <p:nvPr/>
        </p:nvSpPr>
        <p:spPr>
          <a:xfrm>
            <a:off x="7863840" y="4352544"/>
            <a:ext cx="502920" cy="502920"/>
          </a:xfrm>
          <a:prstGeom prst="ellipse">
            <a:avLst/>
          </a:prstGeom>
          <a:solidFill>
            <a:srgbClr val="0F2A3A"/>
          </a:solidFill>
          <a:ln w="12700">
            <a:solidFill>
              <a:srgbClr val="0F2A3A"/>
            </a:solidFill>
            <a:prstDash val="solid"/>
          </a:ln>
        </p:spPr>
      </p:sp>
      <p:pic>
        <p:nvPicPr>
          <p:cNvPr id="32" name="hd-3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4482" y="4463186"/>
            <a:ext cx="281635" cy="281635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8549640" y="4425696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憑證只從環境變數讀取</a:t>
            </a:r>
            <a:endParaRPr lang="en-US" sz="1400" dirty="0"/>
          </a:p>
        </p:txBody>
      </p:sp>
      <p:sp>
        <p:nvSpPr>
          <p:cNvPr id="34" name="hd-4-circle"/>
          <p:cNvSpPr/>
          <p:nvPr/>
        </p:nvSpPr>
        <p:spPr>
          <a:xfrm>
            <a:off x="7863840" y="5193792"/>
            <a:ext cx="502920" cy="502920"/>
          </a:xfrm>
          <a:prstGeom prst="ellipse">
            <a:avLst/>
          </a:prstGeom>
          <a:solidFill>
            <a:srgbClr val="0F2A3A"/>
          </a:solidFill>
          <a:ln w="12700">
            <a:solidFill>
              <a:srgbClr val="0F2A3A"/>
            </a:solidFill>
            <a:prstDash val="solid"/>
          </a:ln>
        </p:spPr>
      </p:sp>
      <p:pic>
        <p:nvPicPr>
          <p:cNvPr id="35" name="hd-4-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4482" y="5304434"/>
            <a:ext cx="281635" cy="281635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8549640" y="526694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關閉 CLI 遙測與非必要連線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已知限制與下一步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D9922E"/>
                </a:solidFill>
              </a:rPr>
              <a:t>尚未驗證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309360" y="12801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8F7E"/>
                </a:solidFill>
              </a:rPr>
              <a:t>下一步</a:t>
            </a:r>
            <a:endParaRPr lang="en-US" sz="1800" dirty="0"/>
          </a:p>
        </p:txBody>
      </p:sp>
      <p:sp>
        <p:nvSpPr>
          <p:cNvPr id="5" name="lim-0"/>
          <p:cNvSpPr/>
          <p:nvPr/>
        </p:nvSpPr>
        <p:spPr>
          <a:xfrm>
            <a:off x="548640" y="1828800"/>
            <a:ext cx="5349240" cy="932688"/>
          </a:xfrm>
          <a:prstGeom prst="roundRect">
            <a:avLst>
              <a:gd name="adj" fmla="val 7843"/>
            </a:avLst>
          </a:prstGeom>
          <a:solidFill>
            <a:srgbClr val="FBF0DF"/>
          </a:solidFill>
          <a:ln w="12700">
            <a:solidFill>
              <a:srgbClr val="FBF0D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9385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</a:rPr>
              <a:t>live 後端未經實機驗證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042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</a:rPr>
              <a:t>LDAP、Graph、Neo4j 程式已完成，需 LAB 走 V11</a:t>
            </a:r>
            <a:endParaRPr lang="en-US" sz="1200" dirty="0"/>
          </a:p>
        </p:txBody>
      </p:sp>
      <p:sp>
        <p:nvSpPr>
          <p:cNvPr id="8" name="nxt-0"/>
          <p:cNvSpPr/>
          <p:nvPr/>
        </p:nvSpPr>
        <p:spPr>
          <a:xfrm>
            <a:off x="6291072" y="1828800"/>
            <a:ext cx="5349240" cy="932688"/>
          </a:xfrm>
          <a:prstGeom prst="roundRect">
            <a:avLst>
              <a:gd name="adj" fmla="val 7843"/>
            </a:avLst>
          </a:prstGeom>
          <a:solidFill>
            <a:srgbClr val="E3F3F0"/>
          </a:solidFill>
          <a:ln w="12700">
            <a:solidFill>
              <a:srgbClr val="E3F3F0"/>
            </a:solidFill>
            <a:prstDash val="solid"/>
          </a:ln>
        </p:spPr>
      </p:sp>
      <p:sp>
        <p:nvSpPr>
          <p:cNvPr id="9" name="num-1"/>
          <p:cNvSpPr/>
          <p:nvPr/>
        </p:nvSpPr>
        <p:spPr>
          <a:xfrm>
            <a:off x="6473952" y="2066544"/>
            <a:ext cx="457200" cy="457200"/>
          </a:xfrm>
          <a:prstGeom prst="ellipse">
            <a:avLst/>
          </a:prstGeom>
          <a:solidFill>
            <a:srgbClr val="0E8F7E"/>
          </a:solidFill>
          <a:ln w="12700">
            <a:solidFill>
              <a:srgbClr val="0E8F7E"/>
            </a:solidFill>
            <a:prstDash val="solid"/>
          </a:ln>
        </p:spPr>
      </p:sp>
      <p:sp>
        <p:nvSpPr>
          <p:cNvPr id="10" name="num-1-text"/>
          <p:cNvSpPr txBox="1"/>
          <p:nvPr/>
        </p:nvSpPr>
        <p:spPr>
          <a:xfrm>
            <a:off x="6473952" y="2066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132320" y="193852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</a:rPr>
              <a:t>LAB 驗證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0" y="230428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</a:rPr>
              <a:t>建立已知弱點的 LAB 網域，完成 V9–V11</a:t>
            </a:r>
            <a:endParaRPr lang="en-US" sz="1200" dirty="0"/>
          </a:p>
        </p:txBody>
      </p:sp>
      <p:sp>
        <p:nvSpPr>
          <p:cNvPr id="13" name="lim-1"/>
          <p:cNvSpPr/>
          <p:nvPr/>
        </p:nvSpPr>
        <p:spPr>
          <a:xfrm>
            <a:off x="548640" y="2907792"/>
            <a:ext cx="5349240" cy="932688"/>
          </a:xfrm>
          <a:prstGeom prst="roundRect">
            <a:avLst>
              <a:gd name="adj" fmla="val 7843"/>
            </a:avLst>
          </a:prstGeom>
          <a:solidFill>
            <a:srgbClr val="FBF0DF"/>
          </a:solidFill>
          <a:ln w="12700">
            <a:solidFill>
              <a:srgbClr val="FBF0D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017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</a:rPr>
              <a:t>Docker 映像尚未實際 build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33832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</a:rPr>
              <a:t>compose 語法與非 editable 安裝已驗證</a:t>
            </a:r>
            <a:endParaRPr lang="en-US" sz="1200" dirty="0"/>
          </a:p>
        </p:txBody>
      </p:sp>
      <p:sp>
        <p:nvSpPr>
          <p:cNvPr id="16" name="nxt-1"/>
          <p:cNvSpPr/>
          <p:nvPr/>
        </p:nvSpPr>
        <p:spPr>
          <a:xfrm>
            <a:off x="6291072" y="2907792"/>
            <a:ext cx="5349240" cy="932688"/>
          </a:xfrm>
          <a:prstGeom prst="roundRect">
            <a:avLst>
              <a:gd name="adj" fmla="val 7843"/>
            </a:avLst>
          </a:prstGeom>
          <a:solidFill>
            <a:srgbClr val="E3F3F0"/>
          </a:solidFill>
          <a:ln w="12700">
            <a:solidFill>
              <a:srgbClr val="E3F3F0"/>
            </a:solidFill>
            <a:prstDash val="solid"/>
          </a:ln>
        </p:spPr>
      </p:sp>
      <p:sp>
        <p:nvSpPr>
          <p:cNvPr id="17" name="num-2"/>
          <p:cNvSpPr/>
          <p:nvPr/>
        </p:nvSpPr>
        <p:spPr>
          <a:xfrm>
            <a:off x="6473952" y="3145536"/>
            <a:ext cx="457200" cy="457200"/>
          </a:xfrm>
          <a:prstGeom prst="ellipse">
            <a:avLst/>
          </a:prstGeom>
          <a:solidFill>
            <a:srgbClr val="0E8F7E"/>
          </a:solidFill>
          <a:ln w="12700">
            <a:solidFill>
              <a:srgbClr val="0E8F7E"/>
            </a:solidFill>
            <a:prstDash val="solid"/>
          </a:ln>
        </p:spPr>
      </p:sp>
      <p:sp>
        <p:nvSpPr>
          <p:cNvPr id="18" name="num-2-text"/>
          <p:cNvSpPr txBox="1"/>
          <p:nvPr/>
        </p:nvSpPr>
        <p:spPr>
          <a:xfrm>
            <a:off x="6473952" y="3145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132320" y="30175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</a:rPr>
              <a:t>模型分工定案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132320" y="33832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</a:rPr>
              <a:t>依 V10 評測結果配置 fast / reason</a:t>
            </a:r>
            <a:endParaRPr lang="en-US" sz="1200" dirty="0"/>
          </a:p>
        </p:txBody>
      </p:sp>
      <p:sp>
        <p:nvSpPr>
          <p:cNvPr id="21" name="lim-2"/>
          <p:cNvSpPr/>
          <p:nvPr/>
        </p:nvSpPr>
        <p:spPr>
          <a:xfrm>
            <a:off x="548640" y="3986784"/>
            <a:ext cx="5349240" cy="932688"/>
          </a:xfrm>
          <a:prstGeom prst="roundRect">
            <a:avLst>
              <a:gd name="adj" fmla="val 7843"/>
            </a:avLst>
          </a:prstGeom>
          <a:solidFill>
            <a:srgbClr val="FBF0DF"/>
          </a:solidFill>
          <a:ln w="12700">
            <a:solidFill>
              <a:srgbClr val="FBF0D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409651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</a:rPr>
              <a:t>地端模型 tool use 未驗證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446227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</a:rPr>
              <a:t>qwen 與 glm 經 LiteLLM 的格式相容性待 V10</a:t>
            </a:r>
            <a:endParaRPr lang="en-US" sz="1200" dirty="0"/>
          </a:p>
        </p:txBody>
      </p:sp>
      <p:sp>
        <p:nvSpPr>
          <p:cNvPr id="24" name="nxt-2"/>
          <p:cNvSpPr/>
          <p:nvPr/>
        </p:nvSpPr>
        <p:spPr>
          <a:xfrm>
            <a:off x="6291072" y="3986784"/>
            <a:ext cx="5349240" cy="932688"/>
          </a:xfrm>
          <a:prstGeom prst="roundRect">
            <a:avLst>
              <a:gd name="adj" fmla="val 7843"/>
            </a:avLst>
          </a:prstGeom>
          <a:solidFill>
            <a:srgbClr val="E3F3F0"/>
          </a:solidFill>
          <a:ln w="12700">
            <a:solidFill>
              <a:srgbClr val="E3F3F0"/>
            </a:solidFill>
            <a:prstDash val="solid"/>
          </a:ln>
        </p:spPr>
      </p:sp>
      <p:sp>
        <p:nvSpPr>
          <p:cNvPr id="25" name="num-3"/>
          <p:cNvSpPr/>
          <p:nvPr/>
        </p:nvSpPr>
        <p:spPr>
          <a:xfrm>
            <a:off x="6473952" y="4224528"/>
            <a:ext cx="457200" cy="457200"/>
          </a:xfrm>
          <a:prstGeom prst="ellipse">
            <a:avLst/>
          </a:prstGeom>
          <a:solidFill>
            <a:srgbClr val="0E8F7E"/>
          </a:solidFill>
          <a:ln w="12700">
            <a:solidFill>
              <a:srgbClr val="0E8F7E"/>
            </a:solidFill>
            <a:prstDash val="solid"/>
          </a:ln>
        </p:spPr>
      </p:sp>
      <p:sp>
        <p:nvSpPr>
          <p:cNvPr id="26" name="num-3-text"/>
          <p:cNvSpPr txBox="1"/>
          <p:nvPr/>
        </p:nvSpPr>
        <p:spPr>
          <a:xfrm>
            <a:off x="6473952" y="4224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132320" y="409651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</a:rPr>
              <a:t>補齊評估解析器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7132320" y="446227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</a:rPr>
              <a:t>Locksmith、Purple Knight、ScubaGear</a:t>
            </a:r>
            <a:endParaRPr lang="en-US" sz="1200" dirty="0"/>
          </a:p>
        </p:txBody>
      </p:sp>
      <p:sp>
        <p:nvSpPr>
          <p:cNvPr id="29" name="lim-3"/>
          <p:cNvSpPr/>
          <p:nvPr/>
        </p:nvSpPr>
        <p:spPr>
          <a:xfrm>
            <a:off x="548640" y="5065776"/>
            <a:ext cx="5349240" cy="932688"/>
          </a:xfrm>
          <a:prstGeom prst="roundRect">
            <a:avLst>
              <a:gd name="adj" fmla="val 7843"/>
            </a:avLst>
          </a:prstGeom>
          <a:solidFill>
            <a:srgbClr val="FBF0DF"/>
          </a:solidFill>
          <a:ln w="12700">
            <a:solidFill>
              <a:srgbClr val="FBF0D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7240" y="517550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</a:rPr>
              <a:t>AD CS 註冊權（ACL）未解析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777240" y="554126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</a:rPr>
              <a:t>暫由 BloodHound CE / Locksmith 判定</a:t>
            </a:r>
            <a:endParaRPr lang="en-US" sz="1200" dirty="0"/>
          </a:p>
        </p:txBody>
      </p:sp>
      <p:sp>
        <p:nvSpPr>
          <p:cNvPr id="32" name="nxt-3"/>
          <p:cNvSpPr/>
          <p:nvPr/>
        </p:nvSpPr>
        <p:spPr>
          <a:xfrm>
            <a:off x="6291072" y="5065776"/>
            <a:ext cx="5349240" cy="932688"/>
          </a:xfrm>
          <a:prstGeom prst="roundRect">
            <a:avLst>
              <a:gd name="adj" fmla="val 7843"/>
            </a:avLst>
          </a:prstGeom>
          <a:solidFill>
            <a:srgbClr val="E3F3F0"/>
          </a:solidFill>
          <a:ln w="12700">
            <a:solidFill>
              <a:srgbClr val="E3F3F0"/>
            </a:solidFill>
            <a:prstDash val="solid"/>
          </a:ln>
        </p:spPr>
      </p:sp>
      <p:sp>
        <p:nvSpPr>
          <p:cNvPr id="33" name="num-4"/>
          <p:cNvSpPr/>
          <p:nvPr/>
        </p:nvSpPr>
        <p:spPr>
          <a:xfrm>
            <a:off x="6473952" y="5303520"/>
            <a:ext cx="457200" cy="457200"/>
          </a:xfrm>
          <a:prstGeom prst="ellipse">
            <a:avLst/>
          </a:prstGeom>
          <a:solidFill>
            <a:srgbClr val="0E8F7E"/>
          </a:solidFill>
          <a:ln w="12700">
            <a:solidFill>
              <a:srgbClr val="0E8F7E"/>
            </a:solidFill>
            <a:prstDash val="solid"/>
          </a:ln>
        </p:spPr>
      </p:sp>
      <p:sp>
        <p:nvSpPr>
          <p:cNvPr id="34" name="num-4-text"/>
          <p:cNvSpPr txBox="1"/>
          <p:nvPr/>
        </p:nvSpPr>
        <p:spPr>
          <a:xfrm>
            <a:off x="6473952" y="5303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7132320" y="517550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</a:rPr>
              <a:t>Phase 2 偵測分流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7132320" y="554126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</a:rPr>
              <a:t>能力矩陣已判定可啟用條件，接 SIEM 後實作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2"/>
          <p:cNvSpPr/>
          <p:nvPr>
            <p:ph idx="112" type="title" hasCustomPrompt="1"/>
          </p:nvPr>
        </p:nvSpPr>
        <p:spPr>
          <a:xfrm>
            <a:off x="731520" y="2148840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Q&amp;A</a:t>
            </a:r>
            <a:endParaRPr lang="en-US" sz="4000" dirty="0"/>
          </a:p>
        </p:txBody>
      </p:sp>
      <p:sp>
        <p:nvSpPr>
          <p:cNvPr id="3" name="Text 12"/>
          <p:cNvSpPr/>
          <p:nvPr>
            <p:ph idx="113" type="body" hasCustomPrompt="1"/>
          </p:nvPr>
        </p:nvSpPr>
        <p:spPr>
          <a:xfrm>
            <a:off x="731520" y="3703320"/>
            <a:ext cx="10241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程式碼：github.com/Kevintw88/ADHD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文件：docs/OPERATIONS.md・docs/VERIFICATION.md・docs/ARCHITECTURE.md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dentity Guard">
  <a:themeElements>
    <a:clrScheme name="Identity Guard">
      <a:dk1>
        <a:srgbClr val="1B2430"/>
      </a:dk1>
      <a:lt1>
        <a:srgbClr val="FFFFFF"/>
      </a:lt1>
      <a:dk2>
        <a:srgbClr val="0F2A3A"/>
      </a:dk2>
      <a:lt2>
        <a:srgbClr val="EEF2F5"/>
      </a:lt2>
      <a:accent1>
        <a:srgbClr val="0E8F7E"/>
      </a:accent1>
      <a:accent2>
        <a:srgbClr val="D9922E"/>
      </a:accent2>
      <a:accent3>
        <a:srgbClr val="C2410C"/>
      </a:accent3>
      <a:accent4>
        <a:srgbClr val="3B6EA8"/>
      </a:accent4>
      <a:accent5>
        <a:srgbClr val="6B7A8F"/>
      </a:accent5>
      <a:accent6>
        <a:srgbClr val="9FD8CF"/>
      </a:accent6>
      <a:hlink>
        <a:srgbClr val="0E8F7E"/>
      </a:hlink>
      <a:folHlink>
        <a:srgbClr val="6B7A8F"/>
      </a:folHlink>
    </a:clrScheme>
    <a:fontScheme name="Identity Guard">
      <a:majorFont>
        <a:latin typeface="Calibri"/>
        <a:ea typeface="Microsoft JhengHei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Microsoft JhengHei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Realtek Security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hybrid-idsec 技術架構</dc:title>
  <dc:subject>PptxGenJS Presentation</dc:subject>
  <dc:creator>TsungYing Pai</dc:creator>
  <cp:lastModifiedBy>TsungYing Pai</cp:lastModifiedBy>
  <cp:revision>1</cp:revision>
  <dcterms:created xsi:type="dcterms:W3CDTF">2026-10-13T00:53:58Z</dcterms:created>
  <dcterms:modified xsi:type="dcterms:W3CDTF">2026-10-13T00:53:58Z</dcterms:modified>
</cp:coreProperties>
</file>